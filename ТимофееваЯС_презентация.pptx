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14"/>
  </p:notesMasterIdLst>
  <p:sldIdLst>
    <p:sldId id="256" r:id="rId2"/>
    <p:sldId id="273" r:id="rId3"/>
    <p:sldId id="274" r:id="rId4"/>
    <p:sldId id="257" r:id="rId5"/>
    <p:sldId id="271" r:id="rId6"/>
    <p:sldId id="275" r:id="rId7"/>
    <p:sldId id="276" r:id="rId8"/>
    <p:sldId id="278" r:id="rId9"/>
    <p:sldId id="279" r:id="rId10"/>
    <p:sldId id="277" r:id="rId11"/>
    <p:sldId id="259" r:id="rId12"/>
    <p:sldId id="268" r:id="rId13"/>
  </p:sldIdLst>
  <p:sldSz cx="12192000" cy="6858000"/>
  <p:notesSz cx="6858000" cy="9144000"/>
  <p:embeddedFontLst>
    <p:embeddedFont>
      <p:font typeface="Calibri" panose="020F0502020204030204" pitchFamily="34" charset="0"/>
      <p:regular r:id="rId15"/>
      <p:bold r:id="rId16"/>
      <p:italic r:id="rId17"/>
      <p:boldItalic r:id="rId18"/>
    </p:embeddedFont>
    <p:embeddedFont>
      <p:font typeface="Calibri Light" panose="020F0302020204030204" pitchFamily="34" charset="0"/>
      <p:regular r:id="rId19"/>
      <p:italic r:id="rId20"/>
    </p:embeddedFont>
  </p:embeddedFont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10C34"/>
    <a:srgbClr val="EF9985"/>
    <a:srgbClr val="C10B0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Средний стиль 2 — акцент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A107856-5554-42FB-B03E-39F5DBC370BA}" styleName="Средний стиль 4 — акцент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92" autoAdjust="0"/>
    <p:restoredTop sz="89103" autoAdjust="0"/>
  </p:normalViewPr>
  <p:slideViewPr>
    <p:cSldViewPr snapToGrid="0">
      <p:cViewPr varScale="1">
        <p:scale>
          <a:sx n="77" d="100"/>
          <a:sy n="77" d="100"/>
        </p:scale>
        <p:origin x="864" y="4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51D1B43-9722-4B59-B8E5-0D06E85DE394}" type="datetimeFigureOut">
              <a:rPr lang="ru-RU" smtClean="0"/>
              <a:t>01.06.2026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8D41DBD-6CA5-42D1-AF42-62D80C8F326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524612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b="0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D41DBD-6CA5-42D1-AF42-62D80C8F3268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27346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D41DBD-6CA5-42D1-AF42-62D80C8F3268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4545195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D41DBD-6CA5-42D1-AF42-62D80C8F3268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8899132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D41DBD-6CA5-42D1-AF42-62D80C8F3268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0883086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D41DBD-6CA5-42D1-AF42-62D80C8F3268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5445159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D41DBD-6CA5-42D1-AF42-62D80C8F3268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8314216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D41DBD-6CA5-42D1-AF42-62D80C8F3268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6161183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D41DBD-6CA5-42D1-AF42-62D80C8F3268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8092363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D41DBD-6CA5-42D1-AF42-62D80C8F3268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4251664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D41DBD-6CA5-42D1-AF42-62D80C8F3268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2548377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D41DBD-6CA5-42D1-AF42-62D80C8F3268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1397915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D41DBD-6CA5-42D1-AF42-62D80C8F3268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372897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/>
          <p:cNvSpPr txBox="1"/>
          <p:nvPr userDrawn="1"/>
        </p:nvSpPr>
        <p:spPr>
          <a:xfrm>
            <a:off x="111929" y="2446893"/>
            <a:ext cx="66163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направление подготовки:</a:t>
            </a:r>
            <a:r>
              <a:rPr lang="ru-RU" baseline="0" dirty="0"/>
              <a:t> 09.03.03 «Прикладная информатика»</a:t>
            </a:r>
          </a:p>
          <a:p>
            <a:r>
              <a:rPr lang="ru-RU" baseline="0" dirty="0"/>
              <a:t>профиль: «Корпоративные информационные системы»</a:t>
            </a:r>
            <a:endParaRPr lang="ru-RU" dirty="0"/>
          </a:p>
        </p:txBody>
      </p:sp>
      <p:sp>
        <p:nvSpPr>
          <p:cNvPr id="9" name="TextBox 8"/>
          <p:cNvSpPr txBox="1"/>
          <p:nvPr userDrawn="1"/>
        </p:nvSpPr>
        <p:spPr>
          <a:xfrm>
            <a:off x="1789340" y="2935868"/>
            <a:ext cx="861332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3600" b="1" dirty="0"/>
              <a:t>Выпускная квалификационная работа</a:t>
            </a:r>
          </a:p>
        </p:txBody>
      </p:sp>
      <p:sp>
        <p:nvSpPr>
          <p:cNvPr id="11" name="TextBox 10"/>
          <p:cNvSpPr txBox="1"/>
          <p:nvPr userDrawn="1"/>
        </p:nvSpPr>
        <p:spPr>
          <a:xfrm>
            <a:off x="221731" y="5088581"/>
            <a:ext cx="103918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/>
              <a:t>Руководитель работы:</a:t>
            </a:r>
          </a:p>
        </p:txBody>
      </p:sp>
      <p:sp>
        <p:nvSpPr>
          <p:cNvPr id="12" name="TextBox 11"/>
          <p:cNvSpPr txBox="1"/>
          <p:nvPr userDrawn="1"/>
        </p:nvSpPr>
        <p:spPr>
          <a:xfrm>
            <a:off x="221731" y="5633541"/>
            <a:ext cx="103918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/>
              <a:t>Обучающийся:</a:t>
            </a:r>
          </a:p>
        </p:txBody>
      </p:sp>
      <p:sp>
        <p:nvSpPr>
          <p:cNvPr id="13" name="TextBox 12"/>
          <p:cNvSpPr txBox="1"/>
          <p:nvPr userDrawn="1"/>
        </p:nvSpPr>
        <p:spPr>
          <a:xfrm>
            <a:off x="2032907" y="1585872"/>
            <a:ext cx="70866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800" b="1" dirty="0">
                <a:solidFill>
                  <a:srgbClr val="B10C34"/>
                </a:solidFill>
              </a:rPr>
              <a:t>факультет информационных технологий</a:t>
            </a:r>
          </a:p>
        </p:txBody>
      </p:sp>
      <p:sp>
        <p:nvSpPr>
          <p:cNvPr id="14" name="TextBox 13"/>
          <p:cNvSpPr txBox="1"/>
          <p:nvPr userDrawn="1"/>
        </p:nvSpPr>
        <p:spPr>
          <a:xfrm>
            <a:off x="2906963" y="2018620"/>
            <a:ext cx="50213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2400" b="1" dirty="0">
                <a:solidFill>
                  <a:srgbClr val="B10C34"/>
                </a:solidFill>
              </a:rPr>
              <a:t>кафедра информационных</a:t>
            </a:r>
            <a:r>
              <a:rPr lang="ru-RU" sz="2400" b="1" baseline="0" dirty="0">
                <a:solidFill>
                  <a:srgbClr val="B10C34"/>
                </a:solidFill>
              </a:rPr>
              <a:t> систем</a:t>
            </a:r>
            <a:endParaRPr lang="ru-RU" sz="2400" b="1" dirty="0">
              <a:solidFill>
                <a:srgbClr val="B10C34"/>
              </a:solidFill>
            </a:endParaRPr>
          </a:p>
        </p:txBody>
      </p:sp>
      <p:sp>
        <p:nvSpPr>
          <p:cNvPr id="15" name="Прямоугольник 14"/>
          <p:cNvSpPr/>
          <p:nvPr userDrawn="1"/>
        </p:nvSpPr>
        <p:spPr>
          <a:xfrm>
            <a:off x="0" y="6384471"/>
            <a:ext cx="12192000" cy="473529"/>
          </a:xfrm>
          <a:prstGeom prst="rect">
            <a:avLst/>
          </a:prstGeom>
          <a:solidFill>
            <a:srgbClr val="C10B0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" name="Рисунок 9"/>
          <p:cNvPicPr/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7171" y="123301"/>
            <a:ext cx="3514362" cy="14819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90982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E9E7C0-B0E1-4307-8FA1-D09529EF9B05}" type="datetimeFigureOut">
              <a:rPr lang="ru-RU" smtClean="0"/>
              <a:t>01.06.2026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B0AEA3-2F28-4AE7-8C6B-26762F985A6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701372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E9E7C0-B0E1-4307-8FA1-D09529EF9B05}" type="datetimeFigureOut">
              <a:rPr lang="ru-RU" smtClean="0"/>
              <a:t>01.06.2026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B0AEA3-2F28-4AE7-8C6B-26762F985A6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09624142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E9E7C0-B0E1-4307-8FA1-D09529EF9B05}" type="datetimeFigureOut">
              <a:rPr lang="ru-RU" smtClean="0"/>
              <a:t>01.06.2026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B0AEA3-2F28-4AE7-8C6B-26762F985A6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112885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E9E7C0-B0E1-4307-8FA1-D09529EF9B05}" type="datetimeFigureOut">
              <a:rPr lang="ru-RU" smtClean="0"/>
              <a:t>01.06.2026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B0AEA3-2F28-4AE7-8C6B-26762F985A6E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4223494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Цель, задач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 userDrawn="1"/>
        </p:nvSpPr>
        <p:spPr>
          <a:xfrm>
            <a:off x="0" y="6384471"/>
            <a:ext cx="12192000" cy="473529"/>
          </a:xfrm>
          <a:prstGeom prst="rect">
            <a:avLst/>
          </a:prstGeom>
          <a:noFill/>
          <a:ln>
            <a:solidFill>
              <a:srgbClr val="B10C3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6" name="Рисунок 5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11490" y="6400799"/>
            <a:ext cx="1856015" cy="430644"/>
          </a:xfrm>
          <a:prstGeom prst="rect">
            <a:avLst/>
          </a:prstGeom>
        </p:spPr>
      </p:pic>
      <p:sp>
        <p:nvSpPr>
          <p:cNvPr id="7" name="TextBox 6"/>
          <p:cNvSpPr txBox="1"/>
          <p:nvPr userDrawn="1"/>
        </p:nvSpPr>
        <p:spPr>
          <a:xfrm>
            <a:off x="106136" y="6431455"/>
            <a:ext cx="11266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>
                <a:solidFill>
                  <a:srgbClr val="B10C34"/>
                </a:solidFill>
                <a:effectLst/>
              </a:rPr>
              <a:t>слайд №</a:t>
            </a:r>
          </a:p>
        </p:txBody>
      </p:sp>
      <p:sp>
        <p:nvSpPr>
          <p:cNvPr id="9" name="Прямоугольник 8"/>
          <p:cNvSpPr/>
          <p:nvPr userDrawn="1"/>
        </p:nvSpPr>
        <p:spPr>
          <a:xfrm>
            <a:off x="2245179" y="6431455"/>
            <a:ext cx="7707085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b="1" dirty="0">
                <a:solidFill>
                  <a:srgbClr val="B10C34"/>
                </a:solidFill>
              </a:rPr>
              <a:t>РАЗДАТОЧНЫЙ МАТЕРИАЛ К ВЫПУСКНОЙ КВАЛИФИКАЦИОННОЙ РАБОТЕ</a:t>
            </a:r>
          </a:p>
        </p:txBody>
      </p:sp>
      <p:sp>
        <p:nvSpPr>
          <p:cNvPr id="8" name="TextBox 7"/>
          <p:cNvSpPr txBox="1"/>
          <p:nvPr userDrawn="1"/>
        </p:nvSpPr>
        <p:spPr>
          <a:xfrm>
            <a:off x="89809" y="48987"/>
            <a:ext cx="1065224" cy="523220"/>
          </a:xfrm>
          <a:prstGeom prst="rect">
            <a:avLst/>
          </a:prstGeom>
          <a:noFill/>
          <a:ln w="6350">
            <a:noFill/>
          </a:ln>
          <a:effectLst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ru-RU" sz="2800" b="1" dirty="0">
                <a:solidFill>
                  <a:srgbClr val="B10C34"/>
                </a:solidFill>
                <a:effectLst/>
              </a:rPr>
              <a:t>Цель:</a:t>
            </a:r>
          </a:p>
        </p:txBody>
      </p:sp>
      <p:sp>
        <p:nvSpPr>
          <p:cNvPr id="10" name="TextBox 9"/>
          <p:cNvSpPr txBox="1"/>
          <p:nvPr userDrawn="1"/>
        </p:nvSpPr>
        <p:spPr>
          <a:xfrm>
            <a:off x="89808" y="1106060"/>
            <a:ext cx="1469486" cy="523220"/>
          </a:xfrm>
          <a:prstGeom prst="rect">
            <a:avLst/>
          </a:prstGeom>
          <a:noFill/>
          <a:ln w="6350">
            <a:noFill/>
          </a:ln>
          <a:effectLst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ru-RU" sz="2800" b="1" dirty="0">
                <a:solidFill>
                  <a:srgbClr val="B10C34"/>
                </a:solidFill>
              </a:rPr>
              <a:t>Задачи:</a:t>
            </a:r>
          </a:p>
        </p:txBody>
      </p:sp>
      <p:sp>
        <p:nvSpPr>
          <p:cNvPr id="11" name="TextBox 10"/>
          <p:cNvSpPr txBox="1"/>
          <p:nvPr userDrawn="1"/>
        </p:nvSpPr>
        <p:spPr>
          <a:xfrm>
            <a:off x="89807" y="4214790"/>
            <a:ext cx="2711146" cy="400110"/>
          </a:xfrm>
          <a:prstGeom prst="rect">
            <a:avLst/>
          </a:prstGeom>
          <a:noFill/>
          <a:ln w="6350">
            <a:noFill/>
          </a:ln>
          <a:effectLst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ru-RU" sz="2000" b="1" dirty="0">
                <a:solidFill>
                  <a:srgbClr val="B10C34"/>
                </a:solidFill>
              </a:rPr>
              <a:t>Объект исследования:</a:t>
            </a:r>
          </a:p>
        </p:txBody>
      </p:sp>
      <p:sp>
        <p:nvSpPr>
          <p:cNvPr id="12" name="TextBox 11"/>
          <p:cNvSpPr txBox="1"/>
          <p:nvPr userDrawn="1"/>
        </p:nvSpPr>
        <p:spPr>
          <a:xfrm>
            <a:off x="89806" y="5257094"/>
            <a:ext cx="2855526" cy="400110"/>
          </a:xfrm>
          <a:prstGeom prst="rect">
            <a:avLst/>
          </a:prstGeom>
          <a:ln w="6350">
            <a:noFill/>
          </a:ln>
          <a:effectLst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ru-RU" sz="2000" b="1" dirty="0">
                <a:solidFill>
                  <a:srgbClr val="B10C34"/>
                </a:solidFill>
              </a:rPr>
              <a:t>Предмет исследования:</a:t>
            </a:r>
          </a:p>
        </p:txBody>
      </p:sp>
    </p:spTree>
    <p:extLst>
      <p:ext uri="{BB962C8B-B14F-4D97-AF65-F5344CB8AC3E}">
        <p14:creationId xmlns:p14="http://schemas.microsoft.com/office/powerpoint/2010/main" val="1181967673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 userDrawn="1"/>
        </p:nvSpPr>
        <p:spPr>
          <a:xfrm>
            <a:off x="0" y="6384471"/>
            <a:ext cx="12192000" cy="473529"/>
          </a:xfrm>
          <a:prstGeom prst="rect">
            <a:avLst/>
          </a:prstGeom>
          <a:noFill/>
          <a:ln>
            <a:solidFill>
              <a:srgbClr val="B10C3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6" name="Рисунок 5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11490" y="6400799"/>
            <a:ext cx="1856015" cy="430644"/>
          </a:xfrm>
          <a:prstGeom prst="rect">
            <a:avLst/>
          </a:prstGeom>
        </p:spPr>
      </p:pic>
      <p:sp>
        <p:nvSpPr>
          <p:cNvPr id="7" name="TextBox 6"/>
          <p:cNvSpPr txBox="1"/>
          <p:nvPr userDrawn="1"/>
        </p:nvSpPr>
        <p:spPr>
          <a:xfrm>
            <a:off x="106136" y="6431455"/>
            <a:ext cx="11266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>
                <a:solidFill>
                  <a:srgbClr val="B10C34"/>
                </a:solidFill>
                <a:effectLst/>
              </a:rPr>
              <a:t>слайд №</a:t>
            </a:r>
          </a:p>
        </p:txBody>
      </p:sp>
      <p:sp>
        <p:nvSpPr>
          <p:cNvPr id="9" name="Прямоугольник 8"/>
          <p:cNvSpPr/>
          <p:nvPr userDrawn="1"/>
        </p:nvSpPr>
        <p:spPr>
          <a:xfrm>
            <a:off x="2245179" y="6431455"/>
            <a:ext cx="7707085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b="1" dirty="0">
                <a:solidFill>
                  <a:srgbClr val="B10C34"/>
                </a:solidFill>
              </a:rPr>
              <a:t>РАЗДАТОЧНЫЙ МАТЕРИАЛ К ВЫПУСКНОЙ КВАЛИФИКАЦИОННОЙ РАБОТЕ</a:t>
            </a:r>
          </a:p>
        </p:txBody>
      </p:sp>
    </p:spTree>
    <p:extLst>
      <p:ext uri="{BB962C8B-B14F-4D97-AF65-F5344CB8AC3E}">
        <p14:creationId xmlns:p14="http://schemas.microsoft.com/office/powerpoint/2010/main" val="914210715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ключ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/>
          <p:cNvSpPr/>
          <p:nvPr userDrawn="1"/>
        </p:nvSpPr>
        <p:spPr>
          <a:xfrm>
            <a:off x="0" y="6384471"/>
            <a:ext cx="12192000" cy="473529"/>
          </a:xfrm>
          <a:prstGeom prst="rect">
            <a:avLst/>
          </a:prstGeom>
          <a:noFill/>
          <a:ln>
            <a:solidFill>
              <a:srgbClr val="B10C3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7" name="Рисунок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11490" y="6400799"/>
            <a:ext cx="1856015" cy="430644"/>
          </a:xfrm>
          <a:prstGeom prst="rect">
            <a:avLst/>
          </a:prstGeom>
        </p:spPr>
      </p:pic>
      <p:sp>
        <p:nvSpPr>
          <p:cNvPr id="8" name="TextBox 7"/>
          <p:cNvSpPr txBox="1"/>
          <p:nvPr userDrawn="1"/>
        </p:nvSpPr>
        <p:spPr>
          <a:xfrm>
            <a:off x="106136" y="6431455"/>
            <a:ext cx="11266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>
                <a:solidFill>
                  <a:srgbClr val="B10C34"/>
                </a:solidFill>
                <a:effectLst/>
              </a:rPr>
              <a:t>слайд №</a:t>
            </a:r>
          </a:p>
        </p:txBody>
      </p:sp>
      <p:sp>
        <p:nvSpPr>
          <p:cNvPr id="9" name="Прямоугольник 8"/>
          <p:cNvSpPr/>
          <p:nvPr userDrawn="1"/>
        </p:nvSpPr>
        <p:spPr>
          <a:xfrm>
            <a:off x="2245179" y="6431455"/>
            <a:ext cx="7707085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b="1" dirty="0">
                <a:solidFill>
                  <a:srgbClr val="B10C34"/>
                </a:solidFill>
              </a:rPr>
              <a:t>РАЗДАТОЧНЫЙ МАТЕРИАЛ К ВЫПУСКНОЙ КВАЛИФИКАЦИОННОЙ РАБОТЕ</a:t>
            </a:r>
          </a:p>
        </p:txBody>
      </p:sp>
      <p:sp>
        <p:nvSpPr>
          <p:cNvPr id="10" name="TextBox 9"/>
          <p:cNvSpPr txBox="1"/>
          <p:nvPr userDrawn="1"/>
        </p:nvSpPr>
        <p:spPr>
          <a:xfrm>
            <a:off x="89808" y="48987"/>
            <a:ext cx="2634141" cy="646331"/>
          </a:xfrm>
          <a:prstGeom prst="rect">
            <a:avLst/>
          </a:prstGeom>
          <a:noFill/>
          <a:ln w="6350">
            <a:noFill/>
          </a:ln>
          <a:effectLst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ru-RU" sz="3600" dirty="0">
                <a:solidFill>
                  <a:srgbClr val="B10C34"/>
                </a:solidFill>
              </a:rPr>
              <a:t>Заключение</a:t>
            </a:r>
          </a:p>
        </p:txBody>
      </p:sp>
    </p:spTree>
    <p:extLst>
      <p:ext uri="{BB962C8B-B14F-4D97-AF65-F5344CB8AC3E}">
        <p14:creationId xmlns:p14="http://schemas.microsoft.com/office/powerpoint/2010/main" val="7257417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Отзыв научного руководител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/>
          <p:cNvSpPr/>
          <p:nvPr userDrawn="1"/>
        </p:nvSpPr>
        <p:spPr>
          <a:xfrm>
            <a:off x="0" y="6384471"/>
            <a:ext cx="12192000" cy="473529"/>
          </a:xfrm>
          <a:prstGeom prst="rect">
            <a:avLst/>
          </a:prstGeom>
          <a:noFill/>
          <a:ln>
            <a:solidFill>
              <a:srgbClr val="B10C3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7" name="Рисунок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11490" y="6400799"/>
            <a:ext cx="1856015" cy="430644"/>
          </a:xfrm>
          <a:prstGeom prst="rect">
            <a:avLst/>
          </a:prstGeom>
        </p:spPr>
      </p:pic>
      <p:sp>
        <p:nvSpPr>
          <p:cNvPr id="8" name="TextBox 7"/>
          <p:cNvSpPr txBox="1"/>
          <p:nvPr userDrawn="1"/>
        </p:nvSpPr>
        <p:spPr>
          <a:xfrm>
            <a:off x="106136" y="6431455"/>
            <a:ext cx="11266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>
                <a:solidFill>
                  <a:srgbClr val="B10C34"/>
                </a:solidFill>
                <a:effectLst/>
              </a:rPr>
              <a:t>слайд №</a:t>
            </a:r>
          </a:p>
        </p:txBody>
      </p:sp>
      <p:sp>
        <p:nvSpPr>
          <p:cNvPr id="9" name="Прямоугольник 8"/>
          <p:cNvSpPr/>
          <p:nvPr userDrawn="1"/>
        </p:nvSpPr>
        <p:spPr>
          <a:xfrm>
            <a:off x="2245179" y="6431455"/>
            <a:ext cx="7707085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b="1" dirty="0">
                <a:solidFill>
                  <a:srgbClr val="B10C34"/>
                </a:solidFill>
              </a:rPr>
              <a:t>ОТЗЫВ РУКОВОДИТЕЛЯ ВЫПУСКНОЙ КВАЛИФИКАЦИОННОЙ РАБОТЫ</a:t>
            </a:r>
          </a:p>
        </p:txBody>
      </p:sp>
      <p:sp>
        <p:nvSpPr>
          <p:cNvPr id="10" name="TextBox 9"/>
          <p:cNvSpPr txBox="1"/>
          <p:nvPr userDrawn="1"/>
        </p:nvSpPr>
        <p:spPr>
          <a:xfrm>
            <a:off x="89808" y="48987"/>
            <a:ext cx="11805556" cy="646331"/>
          </a:xfrm>
          <a:prstGeom prst="rect">
            <a:avLst/>
          </a:prstGeom>
          <a:noFill/>
          <a:ln w="6350">
            <a:noFill/>
          </a:ln>
          <a:effectLst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ru-RU" sz="3600" dirty="0">
                <a:solidFill>
                  <a:srgbClr val="B10C34"/>
                </a:solidFill>
              </a:rPr>
              <a:t>Отзыв на выпускную квалификационную работу</a:t>
            </a:r>
          </a:p>
        </p:txBody>
      </p:sp>
    </p:spTree>
    <p:extLst>
      <p:ext uri="{BB962C8B-B14F-4D97-AF65-F5344CB8AC3E}">
        <p14:creationId xmlns:p14="http://schemas.microsoft.com/office/powerpoint/2010/main" val="36752449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ользовательский маке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E9E7C0-B0E1-4307-8FA1-D09529EF9B05}" type="datetimeFigureOut">
              <a:rPr lang="ru-RU" smtClean="0"/>
              <a:t>01.06.2026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B0AEA3-2F28-4AE7-8C6B-26762F985A6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087182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E9E7C0-B0E1-4307-8FA1-D09529EF9B05}" type="datetimeFigureOut">
              <a:rPr lang="ru-RU" smtClean="0"/>
              <a:t>01.06.2026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B0AEA3-2F28-4AE7-8C6B-26762F985A6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048231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E9E7C0-B0E1-4307-8FA1-D09529EF9B05}" type="datetimeFigureOut">
              <a:rPr lang="ru-RU" smtClean="0"/>
              <a:t>01.06.2026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B0AEA3-2F28-4AE7-8C6B-26762F985A6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9915378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E9E7C0-B0E1-4307-8FA1-D09529EF9B05}" type="datetimeFigureOut">
              <a:rPr lang="ru-RU" smtClean="0"/>
              <a:t>01.06.2026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B0AEA3-2F28-4AE7-8C6B-26762F985A6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1560940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E9E7C0-B0E1-4307-8FA1-D09529EF9B05}" type="datetimeFigureOut">
              <a:rPr lang="ru-RU" smtClean="0"/>
              <a:t>01.06.2026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B0AEA3-2F28-4AE7-8C6B-26762F985A6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438534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6E9E7C0-B0E1-4307-8FA1-D09529EF9B05}" type="datetimeFigureOut">
              <a:rPr lang="ru-RU" smtClean="0"/>
              <a:t>01.06.2026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5B0AEA3-2F28-4AE7-8C6B-26762F985A6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995482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60" r:id="rId6"/>
    <p:sldLayoutId id="2147483655" r:id="rId7"/>
    <p:sldLayoutId id="2147483654" r:id="rId8"/>
    <p:sldLayoutId id="2147483662" r:id="rId9"/>
    <p:sldLayoutId id="2147483661" r:id="rId10"/>
    <p:sldLayoutId id="2147483656" r:id="rId11"/>
    <p:sldLayoutId id="2147483657" r:id="rId12"/>
    <p:sldLayoutId id="2147483658" r:id="rId13"/>
    <p:sldLayoutId id="2147483659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221732" y="3526043"/>
            <a:ext cx="11748536" cy="830997"/>
          </a:xfrm>
          <a:prstGeom prst="rect">
            <a:avLst/>
          </a:prstGeom>
          <a:ln>
            <a:solidFill>
              <a:schemeClr val="bg1">
                <a:lumMod val="9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ru-RU" sz="2400" b="0" dirty="0"/>
              <a:t>тема: </a:t>
            </a:r>
            <a:r>
              <a:rPr lang="ru-RU" sz="2400" b="1" dirty="0"/>
              <a:t>«Автоматизированная информационная система учета товарооборота фирмы на базе платформы 1С:Предприятие»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2942705" y="5095703"/>
            <a:ext cx="35522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к.т.н., </a:t>
            </a:r>
            <a:r>
              <a:rPr lang="ru-RU" dirty="0" err="1"/>
              <a:t>Блощук</a:t>
            </a:r>
            <a:r>
              <a:rPr lang="ru-RU" dirty="0"/>
              <a:t> Андрей Алексеевич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10145" y="5649416"/>
            <a:ext cx="47870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Тимофеева Яна Сергеевна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929" y="6436569"/>
            <a:ext cx="3996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0" dirty="0">
                <a:solidFill>
                  <a:schemeClr val="bg1"/>
                </a:solidFill>
              </a:rPr>
              <a:t>группа: </a:t>
            </a:r>
            <a:r>
              <a:rPr lang="ru-RU" dirty="0" err="1">
                <a:solidFill>
                  <a:schemeClr val="bg1"/>
                </a:solidFill>
              </a:rPr>
              <a:t>о.ИЗДтв</a:t>
            </a:r>
            <a:r>
              <a:rPr lang="ru-RU" dirty="0">
                <a:solidFill>
                  <a:schemeClr val="bg1"/>
                </a:solidFill>
              </a:rPr>
              <a:t> 23.1/Б2-23</a:t>
            </a:r>
            <a:endParaRPr lang="ru-RU" b="0" dirty="0">
              <a:solidFill>
                <a:schemeClr val="bg1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722256" y="6436569"/>
            <a:ext cx="34174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0" dirty="0">
                <a:solidFill>
                  <a:schemeClr val="bg1"/>
                </a:solidFill>
              </a:rPr>
              <a:t>форма обучения: за</a:t>
            </a:r>
            <a:r>
              <a:rPr lang="ru-RU" dirty="0">
                <a:solidFill>
                  <a:schemeClr val="bg1"/>
                </a:solidFill>
              </a:rPr>
              <a:t>очная</a:t>
            </a:r>
            <a:endParaRPr lang="ru-RU" b="0" dirty="0">
              <a:solidFill>
                <a:schemeClr val="bg1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973835" y="6431997"/>
            <a:ext cx="3996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0" dirty="0">
                <a:solidFill>
                  <a:schemeClr val="bg1"/>
                </a:solidFill>
              </a:rPr>
              <a:t>технология обучения: </a:t>
            </a:r>
            <a:r>
              <a:rPr lang="ru-RU" dirty="0">
                <a:solidFill>
                  <a:schemeClr val="bg1"/>
                </a:solidFill>
              </a:rPr>
              <a:t>дистанционная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E5070CE0-DAF6-47AC-B7AE-51A6AF6CC1E9}"/>
              </a:ext>
            </a:extLst>
          </p:cNvPr>
          <p:cNvSpPr/>
          <p:nvPr/>
        </p:nvSpPr>
        <p:spPr>
          <a:xfrm>
            <a:off x="1136666" y="2738890"/>
            <a:ext cx="4959334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ru-RU" dirty="0"/>
              <a:t>«Прикладная информатика в экономике»</a:t>
            </a:r>
          </a:p>
        </p:txBody>
      </p:sp>
    </p:spTree>
    <p:extLst>
      <p:ext uri="{BB962C8B-B14F-4D97-AF65-F5344CB8AC3E}">
        <p14:creationId xmlns:p14="http://schemas.microsoft.com/office/powerpoint/2010/main" val="34661336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2E745E0-200C-4D60-A724-DAE5436A89C2}"/>
              </a:ext>
            </a:extLst>
          </p:cNvPr>
          <p:cNvSpPr txBox="1"/>
          <p:nvPr/>
        </p:nvSpPr>
        <p:spPr>
          <a:xfrm>
            <a:off x="197708" y="710035"/>
            <a:ext cx="11796584" cy="923330"/>
          </a:xfrm>
          <a:prstGeom prst="rect">
            <a:avLst/>
          </a:prstGeom>
          <a:solidFill>
            <a:schemeClr val="bg1"/>
          </a:solidFill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txBody>
          <a:bodyPr wrap="square" rtlCol="0">
            <a:spAutoFit/>
          </a:bodyPr>
          <a:lstStyle/>
          <a:p>
            <a:pPr algn="just"/>
            <a:r>
              <a:rPr lang="ru-RU" dirty="0"/>
              <a:t>Разработка автоматизированной информационной системы учёта товарооборота фирмы на базе платформы 1С:Предприятие, обеспечивающей комплексную автоматизацию процессов закупки, продажи и бухгалтерского сопровождения товаров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5C38C4E-12FF-4E63-84AA-957C9E66ACEC}"/>
              </a:ext>
            </a:extLst>
          </p:cNvPr>
          <p:cNvSpPr txBox="1"/>
          <p:nvPr/>
        </p:nvSpPr>
        <p:spPr>
          <a:xfrm>
            <a:off x="197708" y="2430276"/>
            <a:ext cx="11796584" cy="3371885"/>
          </a:xfrm>
          <a:prstGeom prst="rect">
            <a:avLst/>
          </a:prstGeom>
          <a:solidFill>
            <a:schemeClr val="bg1"/>
          </a:solidFill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txBody>
          <a:bodyPr wrap="square" rtlCol="0">
            <a:spAutoFit/>
          </a:bodyPr>
          <a:lstStyle/>
          <a:p>
            <a:pPr marL="342900" lvl="0" indent="-342900" algn="just">
              <a:lnSpc>
                <a:spcPct val="150000"/>
              </a:lnSpc>
              <a:spcAft>
                <a:spcPts val="0"/>
              </a:spcAft>
              <a:buFont typeface="Times New Roman" panose="02020603050405020304" pitchFamily="18" charset="0"/>
              <a:buAutoNum type="arabicPeriod"/>
            </a:pPr>
            <a:r>
              <a:rPr lang="ru-RU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Провести анализ предметной области и нормативно-правовой базы.</a:t>
            </a:r>
            <a:endParaRPr lang="ru-RU" sz="14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spcAft>
                <a:spcPts val="0"/>
              </a:spcAft>
              <a:buFont typeface="Times New Roman" panose="02020603050405020304" pitchFamily="18" charset="0"/>
              <a:buAutoNum type="arabicPeriod"/>
            </a:pPr>
            <a:r>
              <a:rPr lang="ru-RU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Выполнить сравнительный анализ существующих решений на платформе 1С и обосновать необходимость создания конфигурации.</a:t>
            </a:r>
            <a:endParaRPr lang="ru-RU" sz="14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spcAft>
                <a:spcPts val="0"/>
              </a:spcAft>
              <a:buFont typeface="Times New Roman" panose="02020603050405020304" pitchFamily="18" charset="0"/>
              <a:buAutoNum type="arabicPeriod"/>
            </a:pPr>
            <a:r>
              <a:rPr lang="ru-RU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Спроектировать структуру данных, интерфейс и систему разграничения прав.</a:t>
            </a:r>
            <a:endParaRPr lang="ru-RU" sz="14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spcAft>
                <a:spcPts val="0"/>
              </a:spcAft>
              <a:buFont typeface="Times New Roman" panose="02020603050405020304" pitchFamily="18" charset="0"/>
              <a:buAutoNum type="arabicPeriod"/>
            </a:pPr>
            <a:r>
              <a:rPr lang="ru-RU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Разработать основные объекты конфигурации (справочники, документы, регистры).</a:t>
            </a:r>
            <a:endParaRPr lang="ru-RU" sz="14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spcAft>
                <a:spcPts val="0"/>
              </a:spcAft>
              <a:buFont typeface="Times New Roman" panose="02020603050405020304" pitchFamily="18" charset="0"/>
              <a:buAutoNum type="arabicPeriod"/>
            </a:pPr>
            <a:r>
              <a:rPr lang="ru-RU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Реализовать алгоритмы автоматического проведения документов и формирования проводок.</a:t>
            </a:r>
            <a:endParaRPr lang="ru-RU" sz="14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spcAft>
                <a:spcPts val="0"/>
              </a:spcAft>
              <a:buFont typeface="Times New Roman" panose="02020603050405020304" pitchFamily="18" charset="0"/>
              <a:buAutoNum type="arabicPeriod"/>
            </a:pPr>
            <a:r>
              <a:rPr lang="ru-RU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Создать печатные формы отчётов.</a:t>
            </a:r>
            <a:endParaRPr lang="ru-RU" sz="14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spcAft>
                <a:spcPts val="1000"/>
              </a:spcAft>
              <a:buFont typeface="Times New Roman" panose="02020603050405020304" pitchFamily="18" charset="0"/>
              <a:buAutoNum type="arabicPeriod"/>
            </a:pPr>
            <a:r>
              <a:rPr lang="ru-RU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Выполнить наполнение базы и провести тестирование системы.</a:t>
            </a:r>
            <a:endParaRPr lang="ru-RU" sz="14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5577F4D-B935-4DCF-A3A4-6FF09A41EC1D}"/>
              </a:ext>
            </a:extLst>
          </p:cNvPr>
          <p:cNvSpPr txBox="1"/>
          <p:nvPr/>
        </p:nvSpPr>
        <p:spPr>
          <a:xfrm>
            <a:off x="1111828" y="6441823"/>
            <a:ext cx="45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b="1" dirty="0">
                <a:solidFill>
                  <a:srgbClr val="B10C34"/>
                </a:solidFill>
              </a:rPr>
              <a:t>2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4F2408E3-52B4-4011-8D44-9E21AB4BF380}"/>
              </a:ext>
            </a:extLst>
          </p:cNvPr>
          <p:cNvSpPr/>
          <p:nvPr/>
        </p:nvSpPr>
        <p:spPr>
          <a:xfrm>
            <a:off x="144765" y="1724595"/>
            <a:ext cx="139653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2800" b="1" dirty="0">
                <a:solidFill>
                  <a:srgbClr val="B10C34"/>
                </a:solidFill>
              </a:rPr>
              <a:t>Задачи:</a:t>
            </a:r>
          </a:p>
        </p:txBody>
      </p:sp>
    </p:spTree>
    <p:extLst>
      <p:ext uri="{BB962C8B-B14F-4D97-AF65-F5344CB8AC3E}">
        <p14:creationId xmlns:p14="http://schemas.microsoft.com/office/powerpoint/2010/main" val="10795078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D4D6B89-EB57-45F4-8681-4FFC68302060}"/>
              </a:ext>
            </a:extLst>
          </p:cNvPr>
          <p:cNvSpPr txBox="1"/>
          <p:nvPr/>
        </p:nvSpPr>
        <p:spPr>
          <a:xfrm>
            <a:off x="1111828" y="6441823"/>
            <a:ext cx="45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b="1" dirty="0">
                <a:solidFill>
                  <a:srgbClr val="B10C34"/>
                </a:solidFill>
              </a:rPr>
              <a:t>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3FC432E-7995-4EE8-A50F-7E55AE018470}"/>
              </a:ext>
            </a:extLst>
          </p:cNvPr>
          <p:cNvSpPr txBox="1"/>
          <p:nvPr/>
        </p:nvSpPr>
        <p:spPr>
          <a:xfrm>
            <a:off x="3241963" y="624948"/>
            <a:ext cx="570807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sz="3600" dirty="0">
                <a:solidFill>
                  <a:srgbClr val="C00000"/>
                </a:solidFill>
              </a:rPr>
              <a:t>Объект исследования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51F97087-E4EE-4876-95E6-534254E6D913}"/>
              </a:ext>
            </a:extLst>
          </p:cNvPr>
          <p:cNvSpPr/>
          <p:nvPr/>
        </p:nvSpPr>
        <p:spPr>
          <a:xfrm>
            <a:off x="1018556" y="1632738"/>
            <a:ext cx="10154886" cy="53937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indent="450215" algn="just">
              <a:lnSpc>
                <a:spcPct val="150000"/>
              </a:lnSpc>
            </a:pPr>
            <a:r>
              <a:rPr lang="ru-RU" sz="2200" dirty="0">
                <a:latin typeface="Times New Roman" panose="02020603050405020304" pitchFamily="18" charset="0"/>
                <a:ea typeface="Calibri" panose="020F0502020204030204" pitchFamily="34" charset="0"/>
              </a:rPr>
              <a:t>Процесс учёта товарооборота в торговой организации «Товарооборот-НН».</a:t>
            </a:r>
            <a:endParaRPr lang="ru-RU" sz="22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512940B-F2C8-4C62-A27F-61805C45674E}"/>
              </a:ext>
            </a:extLst>
          </p:cNvPr>
          <p:cNvSpPr txBox="1"/>
          <p:nvPr/>
        </p:nvSpPr>
        <p:spPr>
          <a:xfrm>
            <a:off x="3241963" y="2533576"/>
            <a:ext cx="570807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sz="3600" dirty="0">
                <a:solidFill>
                  <a:srgbClr val="C00000"/>
                </a:solidFill>
              </a:rPr>
              <a:t>Предмет исследования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A82C8C22-2CCA-4D85-9AA3-EAFFBD36333C}"/>
              </a:ext>
            </a:extLst>
          </p:cNvPr>
          <p:cNvSpPr/>
          <p:nvPr/>
        </p:nvSpPr>
        <p:spPr>
          <a:xfrm>
            <a:off x="1340428" y="3547347"/>
            <a:ext cx="10154886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200" dirty="0"/>
              <a:t>Методы автоматизации процесса средствами платформы 1С:Предприятие 8.3.</a:t>
            </a:r>
          </a:p>
        </p:txBody>
      </p:sp>
    </p:spTree>
    <p:extLst>
      <p:ext uri="{BB962C8B-B14F-4D97-AF65-F5344CB8AC3E}">
        <p14:creationId xmlns:p14="http://schemas.microsoft.com/office/powerpoint/2010/main" val="1410134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D4D6B89-EB57-45F4-8681-4FFC68302060}"/>
              </a:ext>
            </a:extLst>
          </p:cNvPr>
          <p:cNvSpPr txBox="1"/>
          <p:nvPr/>
        </p:nvSpPr>
        <p:spPr>
          <a:xfrm>
            <a:off x="1111828" y="6441823"/>
            <a:ext cx="45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b="1" dirty="0">
                <a:solidFill>
                  <a:srgbClr val="B10C34"/>
                </a:solidFill>
              </a:rPr>
              <a:t>4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3FC432E-7995-4EE8-A50F-7E55AE018470}"/>
              </a:ext>
            </a:extLst>
          </p:cNvPr>
          <p:cNvSpPr txBox="1"/>
          <p:nvPr/>
        </p:nvSpPr>
        <p:spPr>
          <a:xfrm>
            <a:off x="3241963" y="339976"/>
            <a:ext cx="570807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sz="3600" dirty="0">
                <a:solidFill>
                  <a:srgbClr val="C00000"/>
                </a:solidFill>
              </a:rPr>
              <a:t>Актуальность исследования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DD0B6C8-7519-4612-BAAD-5EA58E1B31EF}"/>
              </a:ext>
            </a:extLst>
          </p:cNvPr>
          <p:cNvSpPr txBox="1"/>
          <p:nvPr/>
        </p:nvSpPr>
        <p:spPr>
          <a:xfrm>
            <a:off x="1111828" y="1560027"/>
            <a:ext cx="9759372" cy="2352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/>
              <a:t>существующие типовые конфигурации содержат избыточный функционал, который усложняет работу персонала и требует значительных доработок. </a:t>
            </a: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/>
              <a:t>ручной ввод данных и отсутствие автоматических проверок приводят к ошибкам. </a:t>
            </a: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/>
              <a:t>компания нуждается в гибкой системе, позволяющей одновременно вести учёт с минимальными трудозатратами.</a:t>
            </a:r>
          </a:p>
        </p:txBody>
      </p:sp>
    </p:spTree>
    <p:extLst>
      <p:ext uri="{BB962C8B-B14F-4D97-AF65-F5344CB8AC3E}">
        <p14:creationId xmlns:p14="http://schemas.microsoft.com/office/powerpoint/2010/main" val="41061600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D4D6B89-EB57-45F4-8681-4FFC68302060}"/>
              </a:ext>
            </a:extLst>
          </p:cNvPr>
          <p:cNvSpPr txBox="1"/>
          <p:nvPr/>
        </p:nvSpPr>
        <p:spPr>
          <a:xfrm>
            <a:off x="1111828" y="6441823"/>
            <a:ext cx="45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b="1" dirty="0">
                <a:solidFill>
                  <a:srgbClr val="B10C34"/>
                </a:solidFill>
              </a:rPr>
              <a:t>5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3FC432E-7995-4EE8-A50F-7E55AE018470}"/>
              </a:ext>
            </a:extLst>
          </p:cNvPr>
          <p:cNvSpPr txBox="1"/>
          <p:nvPr/>
        </p:nvSpPr>
        <p:spPr>
          <a:xfrm>
            <a:off x="1317021" y="169464"/>
            <a:ext cx="955795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3200" dirty="0">
                <a:solidFill>
                  <a:srgbClr val="C00000"/>
                </a:solidFill>
              </a:rPr>
              <a:t>АНАЛИЗ ПРЕДМЕТНОЙ ОБЛАСТИ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ABA14DDB-5F03-4F17-8351-A4F2DB97BB4F}"/>
              </a:ext>
            </a:extLst>
          </p:cNvPr>
          <p:cNvPicPr/>
          <p:nvPr/>
        </p:nvPicPr>
        <p:blipFill rotWithShape="1">
          <a:blip r:embed="rId3"/>
          <a:srcRect l="30943" t="17877" r="28914" b="7723"/>
          <a:stretch/>
        </p:blipFill>
        <p:spPr bwMode="auto">
          <a:xfrm>
            <a:off x="3139107" y="996018"/>
            <a:ext cx="5913783" cy="4865964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38294118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D4D6B89-EB57-45F4-8681-4FFC68302060}"/>
              </a:ext>
            </a:extLst>
          </p:cNvPr>
          <p:cNvSpPr txBox="1"/>
          <p:nvPr/>
        </p:nvSpPr>
        <p:spPr>
          <a:xfrm>
            <a:off x="1111828" y="6441823"/>
            <a:ext cx="45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b="1" dirty="0">
                <a:solidFill>
                  <a:srgbClr val="B10C34"/>
                </a:solidFill>
              </a:rPr>
              <a:t>6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3FC432E-7995-4EE8-A50F-7E55AE018470}"/>
              </a:ext>
            </a:extLst>
          </p:cNvPr>
          <p:cNvSpPr txBox="1"/>
          <p:nvPr/>
        </p:nvSpPr>
        <p:spPr>
          <a:xfrm>
            <a:off x="1317021" y="169464"/>
            <a:ext cx="955795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3200" dirty="0">
                <a:solidFill>
                  <a:srgbClr val="C00000"/>
                </a:solidFill>
              </a:rPr>
              <a:t>ПРОЕКТИРОВАНИЕ КОНФИГУРАЦИИ</a:t>
            </a:r>
          </a:p>
        </p:txBody>
      </p:sp>
      <p:graphicFrame>
        <p:nvGraphicFramePr>
          <p:cNvPr id="4" name="Таблица 3">
            <a:extLst>
              <a:ext uri="{FF2B5EF4-FFF2-40B4-BE49-F238E27FC236}">
                <a16:creationId xmlns:a16="http://schemas.microsoft.com/office/drawing/2014/main" id="{41665A36-773E-4919-8557-4BD0F23854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1417253"/>
              </p:ext>
            </p:extLst>
          </p:nvPr>
        </p:nvGraphicFramePr>
        <p:xfrm>
          <a:off x="1491146" y="977811"/>
          <a:ext cx="9557956" cy="4906160"/>
        </p:xfrm>
        <a:graphic>
          <a:graphicData uri="http://schemas.openxmlformats.org/drawingml/2006/table">
            <a:tbl>
              <a:tblPr firstRow="1" firstCol="1" bandRow="1"/>
              <a:tblGrid>
                <a:gridCol w="9557956">
                  <a:extLst>
                    <a:ext uri="{9D8B030D-6E8A-4147-A177-3AD203B41FA5}">
                      <a16:colId xmlns:a16="http://schemas.microsoft.com/office/drawing/2014/main" val="3010636835"/>
                    </a:ext>
                  </a:extLst>
                </a:gridCol>
              </a:tblGrid>
              <a:tr h="306635">
                <a:tc>
                  <a:txBody>
                    <a:bodyPr/>
                    <a:lstStyle/>
                    <a:p>
                      <a:pPr algn="just" fontAlgn="auto" hangingPunct="1">
                        <a:spcAft>
                          <a:spcPts val="0"/>
                        </a:spcAft>
                      </a:pPr>
                      <a:r>
                        <a:rPr lang="ru-RU" sz="18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Конфигурация содержит следующий набор объектов:</a:t>
                      </a:r>
                      <a:endParaRPr lang="ru-RU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8533099"/>
                  </a:ext>
                </a:extLst>
              </a:tr>
              <a:tr h="306635">
                <a:tc>
                  <a:txBody>
                    <a:bodyPr/>
                    <a:lstStyle/>
                    <a:p>
                      <a:pPr algn="just" fontAlgn="auto" hangingPunct="1">
                        <a:spcAft>
                          <a:spcPts val="0"/>
                        </a:spcAft>
                      </a:pPr>
                      <a:r>
                        <a:rPr lang="ru-RU" sz="1800" dirty="0">
                          <a:solidFill>
                            <a:srgbClr val="000000"/>
                          </a:solidFill>
                          <a:effectLst/>
                          <a:latin typeface="Symbol" panose="05050102010706020507" pitchFamily="18" charset="2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-</a:t>
                      </a:r>
                      <a:r>
                        <a:rPr lang="ru-RU" sz="18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                   Справочники –</a:t>
                      </a:r>
                      <a:r>
                        <a:rPr lang="ru-RU" sz="1800" b="1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15</a:t>
                      </a:r>
                      <a:r>
                        <a:rPr lang="ru-RU" sz="18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, из них </a:t>
                      </a:r>
                      <a:r>
                        <a:rPr lang="ru-RU" sz="1800" b="1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3 иерархические.</a:t>
                      </a:r>
                      <a:endParaRPr lang="ru-RU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24529369"/>
                  </a:ext>
                </a:extLst>
              </a:tr>
              <a:tr h="306635">
                <a:tc>
                  <a:txBody>
                    <a:bodyPr/>
                    <a:lstStyle/>
                    <a:p>
                      <a:pPr algn="just" fontAlgn="auto" hangingPunct="1">
                        <a:spcAft>
                          <a:spcPts val="0"/>
                        </a:spcAft>
                      </a:pPr>
                      <a:r>
                        <a:rPr lang="ru-RU" sz="1800">
                          <a:solidFill>
                            <a:srgbClr val="000000"/>
                          </a:solidFill>
                          <a:effectLst/>
                          <a:latin typeface="Symbol" panose="05050102010706020507" pitchFamily="18" charset="2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-</a:t>
                      </a:r>
                      <a:r>
                        <a:rPr lang="ru-RU" sz="18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                   Документы –</a:t>
                      </a:r>
                      <a:r>
                        <a:rPr lang="ru-RU" sz="1800" b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10</a:t>
                      </a:r>
                      <a:r>
                        <a:rPr lang="ru-RU" sz="18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.</a:t>
                      </a:r>
                      <a:endParaRPr lang="ru-RU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50532472"/>
                  </a:ext>
                </a:extLst>
              </a:tr>
              <a:tr h="306635">
                <a:tc>
                  <a:txBody>
                    <a:bodyPr/>
                    <a:lstStyle/>
                    <a:p>
                      <a:pPr algn="just" fontAlgn="auto" hangingPunct="1">
                        <a:spcAft>
                          <a:spcPts val="0"/>
                        </a:spcAft>
                      </a:pPr>
                      <a:r>
                        <a:rPr lang="ru-RU" sz="1800">
                          <a:solidFill>
                            <a:srgbClr val="000000"/>
                          </a:solidFill>
                          <a:effectLst/>
                          <a:latin typeface="Symbol" panose="05050102010706020507" pitchFamily="18" charset="2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-</a:t>
                      </a:r>
                      <a:r>
                        <a:rPr lang="ru-RU" sz="18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                   Константы –</a:t>
                      </a:r>
                      <a:r>
                        <a:rPr lang="ru-RU" sz="1800" b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 2</a:t>
                      </a:r>
                      <a:r>
                        <a:rPr lang="ru-RU" sz="18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.</a:t>
                      </a:r>
                      <a:endParaRPr lang="ru-RU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7504892"/>
                  </a:ext>
                </a:extLst>
              </a:tr>
              <a:tr h="306635">
                <a:tc>
                  <a:txBody>
                    <a:bodyPr/>
                    <a:lstStyle/>
                    <a:p>
                      <a:pPr algn="just" fontAlgn="auto" hangingPunct="1">
                        <a:spcAft>
                          <a:spcPts val="0"/>
                        </a:spcAft>
                      </a:pPr>
                      <a:r>
                        <a:rPr lang="ru-RU" sz="1800">
                          <a:solidFill>
                            <a:srgbClr val="000000"/>
                          </a:solidFill>
                          <a:effectLst/>
                          <a:latin typeface="Symbol" panose="05050102010706020507" pitchFamily="18" charset="2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-</a:t>
                      </a:r>
                      <a:r>
                        <a:rPr lang="ru-RU" sz="18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                   Перечисления –</a:t>
                      </a:r>
                      <a:r>
                        <a:rPr lang="ru-RU" sz="1800" b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3</a:t>
                      </a:r>
                      <a:r>
                        <a:rPr lang="ru-RU" sz="18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.</a:t>
                      </a:r>
                      <a:endParaRPr lang="ru-RU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94898934"/>
                  </a:ext>
                </a:extLst>
              </a:tr>
              <a:tr h="306635">
                <a:tc>
                  <a:txBody>
                    <a:bodyPr/>
                    <a:lstStyle/>
                    <a:p>
                      <a:pPr algn="just" fontAlgn="auto" hangingPunct="1">
                        <a:spcAft>
                          <a:spcPts val="0"/>
                        </a:spcAft>
                      </a:pPr>
                      <a:r>
                        <a:rPr lang="ru-RU" sz="1800">
                          <a:solidFill>
                            <a:srgbClr val="000000"/>
                          </a:solidFill>
                          <a:effectLst/>
                          <a:latin typeface="Symbol" panose="05050102010706020507" pitchFamily="18" charset="2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-</a:t>
                      </a:r>
                      <a:r>
                        <a:rPr lang="ru-RU" sz="18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                   Общие модули – </a:t>
                      </a:r>
                      <a:r>
                        <a:rPr lang="ru-RU" sz="1800" b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2</a:t>
                      </a:r>
                      <a:r>
                        <a:rPr lang="ru-RU" sz="18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.</a:t>
                      </a:r>
                      <a:endParaRPr lang="ru-RU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43850838"/>
                  </a:ext>
                </a:extLst>
              </a:tr>
              <a:tr h="306635">
                <a:tc>
                  <a:txBody>
                    <a:bodyPr/>
                    <a:lstStyle/>
                    <a:p>
                      <a:pPr algn="just" fontAlgn="auto" hangingPunct="1">
                        <a:spcAft>
                          <a:spcPts val="0"/>
                        </a:spcAft>
                      </a:pPr>
                      <a:r>
                        <a:rPr lang="ru-RU" sz="1800">
                          <a:solidFill>
                            <a:srgbClr val="000000"/>
                          </a:solidFill>
                          <a:effectLst/>
                          <a:latin typeface="Symbol" panose="05050102010706020507" pitchFamily="18" charset="2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-</a:t>
                      </a:r>
                      <a:r>
                        <a:rPr lang="ru-RU" sz="18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                   Обработки – </a:t>
                      </a:r>
                      <a:r>
                        <a:rPr lang="ru-RU" sz="1800" b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не менее</a:t>
                      </a:r>
                      <a:r>
                        <a:rPr lang="ru-RU" sz="18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 </a:t>
                      </a:r>
                      <a:r>
                        <a:rPr lang="ru-RU" sz="1800" b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1</a:t>
                      </a:r>
                      <a:r>
                        <a:rPr lang="ru-RU" sz="18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.</a:t>
                      </a:r>
                      <a:endParaRPr lang="ru-RU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92499543"/>
                  </a:ext>
                </a:extLst>
              </a:tr>
              <a:tr h="306635">
                <a:tc>
                  <a:txBody>
                    <a:bodyPr/>
                    <a:lstStyle/>
                    <a:p>
                      <a:pPr algn="just" fontAlgn="auto" hangingPunct="1">
                        <a:spcAft>
                          <a:spcPts val="0"/>
                        </a:spcAft>
                      </a:pPr>
                      <a:r>
                        <a:rPr lang="ru-RU" sz="1800">
                          <a:solidFill>
                            <a:srgbClr val="000000"/>
                          </a:solidFill>
                          <a:effectLst/>
                          <a:latin typeface="Symbol" panose="05050102010706020507" pitchFamily="18" charset="2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-</a:t>
                      </a:r>
                      <a:r>
                        <a:rPr lang="ru-RU" sz="18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                   Отчеты – </a:t>
                      </a:r>
                      <a:r>
                        <a:rPr lang="ru-RU" sz="1800" b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7</a:t>
                      </a:r>
                      <a:r>
                        <a:rPr lang="ru-RU" sz="18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, в том числе сложные – </a:t>
                      </a:r>
                      <a:r>
                        <a:rPr lang="ru-RU" sz="1800" b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3</a:t>
                      </a:r>
                      <a:r>
                        <a:rPr lang="ru-RU" sz="18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.</a:t>
                      </a:r>
                      <a:endParaRPr lang="ru-RU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3581808"/>
                  </a:ext>
                </a:extLst>
              </a:tr>
              <a:tr h="306635">
                <a:tc>
                  <a:txBody>
                    <a:bodyPr/>
                    <a:lstStyle/>
                    <a:p>
                      <a:pPr algn="just" fontAlgn="auto" hangingPunct="1">
                        <a:spcAft>
                          <a:spcPts val="0"/>
                        </a:spcAft>
                      </a:pPr>
                      <a:r>
                        <a:rPr lang="ru-RU" sz="1800">
                          <a:solidFill>
                            <a:srgbClr val="000000"/>
                          </a:solidFill>
                          <a:effectLst/>
                          <a:latin typeface="Symbol" panose="05050102010706020507" pitchFamily="18" charset="2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-</a:t>
                      </a:r>
                      <a:r>
                        <a:rPr lang="ru-RU" sz="18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                   Подсистемы - </a:t>
                      </a:r>
                      <a:r>
                        <a:rPr lang="ru-RU" sz="1800" b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5.</a:t>
                      </a:r>
                      <a:endParaRPr lang="ru-RU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60481253"/>
                  </a:ext>
                </a:extLst>
              </a:tr>
              <a:tr h="306635">
                <a:tc>
                  <a:txBody>
                    <a:bodyPr/>
                    <a:lstStyle/>
                    <a:p>
                      <a:pPr algn="just" fontAlgn="auto" hangingPunct="1">
                        <a:spcAft>
                          <a:spcPts val="0"/>
                        </a:spcAft>
                      </a:pPr>
                      <a:r>
                        <a:rPr lang="ru-RU" sz="1800">
                          <a:solidFill>
                            <a:srgbClr val="000000"/>
                          </a:solidFill>
                          <a:effectLst/>
                          <a:latin typeface="Symbol" panose="05050102010706020507" pitchFamily="18" charset="2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-</a:t>
                      </a:r>
                      <a:r>
                        <a:rPr lang="ru-RU" sz="18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                   Регистры накопления –</a:t>
                      </a:r>
                      <a:r>
                        <a:rPr lang="ru-RU" sz="1800" b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3.</a:t>
                      </a:r>
                      <a:endParaRPr lang="ru-RU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60427146"/>
                  </a:ext>
                </a:extLst>
              </a:tr>
              <a:tr h="306635">
                <a:tc>
                  <a:txBody>
                    <a:bodyPr/>
                    <a:lstStyle/>
                    <a:p>
                      <a:pPr algn="just" fontAlgn="auto" hangingPunct="1">
                        <a:spcAft>
                          <a:spcPts val="0"/>
                        </a:spcAft>
                      </a:pPr>
                      <a:r>
                        <a:rPr lang="ru-RU" sz="1800">
                          <a:solidFill>
                            <a:srgbClr val="000000"/>
                          </a:solidFill>
                          <a:effectLst/>
                          <a:latin typeface="Symbol" panose="05050102010706020507" pitchFamily="18" charset="2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-</a:t>
                      </a:r>
                      <a:r>
                        <a:rPr lang="ru-RU" sz="18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                   Планы видов характеристик –</a:t>
                      </a:r>
                      <a:r>
                        <a:rPr lang="ru-RU" sz="1800" b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 1</a:t>
                      </a:r>
                      <a:r>
                        <a:rPr lang="ru-RU" sz="18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.</a:t>
                      </a:r>
                      <a:endParaRPr lang="ru-RU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09265177"/>
                  </a:ext>
                </a:extLst>
              </a:tr>
              <a:tr h="306635">
                <a:tc>
                  <a:txBody>
                    <a:bodyPr/>
                    <a:lstStyle/>
                    <a:p>
                      <a:pPr algn="just" fontAlgn="auto" hangingPunct="1">
                        <a:spcAft>
                          <a:spcPts val="0"/>
                        </a:spcAft>
                      </a:pPr>
                      <a:r>
                        <a:rPr lang="ru-RU" sz="1800">
                          <a:solidFill>
                            <a:srgbClr val="000000"/>
                          </a:solidFill>
                          <a:effectLst/>
                          <a:latin typeface="Symbol" panose="05050102010706020507" pitchFamily="18" charset="2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-</a:t>
                      </a:r>
                      <a:r>
                        <a:rPr lang="ru-RU" sz="18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                   Планы счетов – </a:t>
                      </a:r>
                      <a:r>
                        <a:rPr lang="ru-RU" sz="1800" b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1</a:t>
                      </a:r>
                      <a:r>
                        <a:rPr lang="ru-RU" sz="18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.</a:t>
                      </a:r>
                      <a:endParaRPr lang="ru-RU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67921619"/>
                  </a:ext>
                </a:extLst>
              </a:tr>
              <a:tr h="306635">
                <a:tc>
                  <a:txBody>
                    <a:bodyPr/>
                    <a:lstStyle/>
                    <a:p>
                      <a:pPr algn="just" fontAlgn="auto" hangingPunct="1">
                        <a:spcAft>
                          <a:spcPts val="0"/>
                        </a:spcAft>
                      </a:pPr>
                      <a:r>
                        <a:rPr lang="ru-RU" sz="1800">
                          <a:solidFill>
                            <a:srgbClr val="000000"/>
                          </a:solidFill>
                          <a:effectLst/>
                          <a:latin typeface="Symbol" panose="05050102010706020507" pitchFamily="18" charset="2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-</a:t>
                      </a:r>
                      <a:r>
                        <a:rPr lang="ru-RU" sz="18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                   Планы видов расчета – </a:t>
                      </a:r>
                      <a:r>
                        <a:rPr lang="ru-RU" sz="1800" b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2</a:t>
                      </a:r>
                      <a:r>
                        <a:rPr lang="ru-RU" sz="18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.</a:t>
                      </a:r>
                      <a:endParaRPr lang="ru-RU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8818306"/>
                  </a:ext>
                </a:extLst>
              </a:tr>
              <a:tr h="306635">
                <a:tc>
                  <a:txBody>
                    <a:bodyPr/>
                    <a:lstStyle/>
                    <a:p>
                      <a:pPr algn="just" fontAlgn="auto" hangingPunct="1">
                        <a:spcAft>
                          <a:spcPts val="0"/>
                        </a:spcAft>
                      </a:pPr>
                      <a:r>
                        <a:rPr lang="ru-RU" sz="1800">
                          <a:solidFill>
                            <a:srgbClr val="000000"/>
                          </a:solidFill>
                          <a:effectLst/>
                          <a:latin typeface="Symbol" panose="05050102010706020507" pitchFamily="18" charset="2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-</a:t>
                      </a:r>
                      <a:r>
                        <a:rPr lang="ru-RU" sz="18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                   Регистры сведений –</a:t>
                      </a:r>
                      <a:r>
                        <a:rPr lang="ru-RU" sz="1800" b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 4</a:t>
                      </a:r>
                      <a:r>
                        <a:rPr lang="ru-RU" sz="18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.</a:t>
                      </a:r>
                      <a:endParaRPr lang="ru-RU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16600718"/>
                  </a:ext>
                </a:extLst>
              </a:tr>
              <a:tr h="306635">
                <a:tc>
                  <a:txBody>
                    <a:bodyPr/>
                    <a:lstStyle/>
                    <a:p>
                      <a:pPr algn="just" fontAlgn="auto" hangingPunct="1">
                        <a:spcAft>
                          <a:spcPts val="0"/>
                        </a:spcAft>
                      </a:pPr>
                      <a:r>
                        <a:rPr lang="ru-RU" sz="1800">
                          <a:solidFill>
                            <a:srgbClr val="000000"/>
                          </a:solidFill>
                          <a:effectLst/>
                          <a:latin typeface="Symbol" panose="05050102010706020507" pitchFamily="18" charset="2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-</a:t>
                      </a:r>
                      <a:r>
                        <a:rPr lang="ru-RU" sz="18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                   Регистры бухгалтерии - </a:t>
                      </a:r>
                      <a:r>
                        <a:rPr lang="ru-RU" sz="1800" b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1.</a:t>
                      </a:r>
                      <a:endParaRPr lang="ru-RU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5647681"/>
                  </a:ext>
                </a:extLst>
              </a:tr>
              <a:tr h="306635">
                <a:tc>
                  <a:txBody>
                    <a:bodyPr/>
                    <a:lstStyle/>
                    <a:p>
                      <a:pPr algn="just" fontAlgn="auto" hangingPunct="1">
                        <a:spcAft>
                          <a:spcPts val="0"/>
                        </a:spcAft>
                      </a:pPr>
                      <a:r>
                        <a:rPr lang="ru-RU" sz="1800" dirty="0">
                          <a:solidFill>
                            <a:srgbClr val="000000"/>
                          </a:solidFill>
                          <a:effectLst/>
                          <a:latin typeface="Symbol" panose="05050102010706020507" pitchFamily="18" charset="2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-</a:t>
                      </a:r>
                      <a:r>
                        <a:rPr lang="ru-RU" sz="18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                   Регистры расчета – </a:t>
                      </a:r>
                      <a:r>
                        <a:rPr lang="ru-RU" sz="1800" b="1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2.</a:t>
                      </a:r>
                      <a:endParaRPr lang="ru-RU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879078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527845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D4D6B89-EB57-45F4-8681-4FFC68302060}"/>
              </a:ext>
            </a:extLst>
          </p:cNvPr>
          <p:cNvSpPr txBox="1"/>
          <p:nvPr/>
        </p:nvSpPr>
        <p:spPr>
          <a:xfrm>
            <a:off x="1111828" y="6441823"/>
            <a:ext cx="45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b="1" dirty="0">
                <a:solidFill>
                  <a:srgbClr val="B10C34"/>
                </a:solidFill>
              </a:rPr>
              <a:t>7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3FC432E-7995-4EE8-A50F-7E55AE018470}"/>
              </a:ext>
            </a:extLst>
          </p:cNvPr>
          <p:cNvSpPr txBox="1"/>
          <p:nvPr/>
        </p:nvSpPr>
        <p:spPr>
          <a:xfrm>
            <a:off x="1317021" y="169464"/>
            <a:ext cx="955795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3200" cap="all" dirty="0">
                <a:solidFill>
                  <a:srgbClr val="C00000"/>
                </a:solidFill>
              </a:rPr>
              <a:t>Документ «</a:t>
            </a:r>
            <a:r>
              <a:rPr lang="ru-RU" sz="3200" cap="all" dirty="0" err="1">
                <a:solidFill>
                  <a:srgbClr val="C00000"/>
                </a:solidFill>
              </a:rPr>
              <a:t>РеализацияТоваров</a:t>
            </a:r>
            <a:r>
              <a:rPr lang="ru-RU" sz="3200" cap="all" dirty="0">
                <a:solidFill>
                  <a:srgbClr val="C00000"/>
                </a:solidFill>
              </a:rPr>
              <a:t>»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CCD56475-E93D-4F66-8579-A3B13862F7D9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30116"/>
          <a:stretch/>
        </p:blipFill>
        <p:spPr>
          <a:xfrm>
            <a:off x="658510" y="1339014"/>
            <a:ext cx="10874979" cy="42749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20779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D4D6B89-EB57-45F4-8681-4FFC68302060}"/>
              </a:ext>
            </a:extLst>
          </p:cNvPr>
          <p:cNvSpPr txBox="1"/>
          <p:nvPr/>
        </p:nvSpPr>
        <p:spPr>
          <a:xfrm>
            <a:off x="1111828" y="6441823"/>
            <a:ext cx="45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b="1" dirty="0">
                <a:solidFill>
                  <a:srgbClr val="B10C34"/>
                </a:solidFill>
              </a:rPr>
              <a:t>8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3FC432E-7995-4EE8-A50F-7E55AE018470}"/>
              </a:ext>
            </a:extLst>
          </p:cNvPr>
          <p:cNvSpPr txBox="1"/>
          <p:nvPr/>
        </p:nvSpPr>
        <p:spPr>
          <a:xfrm>
            <a:off x="1317021" y="169464"/>
            <a:ext cx="955795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3200" cap="all" dirty="0">
                <a:solidFill>
                  <a:srgbClr val="C00000"/>
                </a:solidFill>
              </a:rPr>
              <a:t>Регистр сведений «</a:t>
            </a:r>
            <a:r>
              <a:rPr lang="ru-RU" sz="3200" cap="all" dirty="0" err="1">
                <a:solidFill>
                  <a:srgbClr val="C00000"/>
                </a:solidFill>
              </a:rPr>
              <a:t>ЦеныНоменклатуры</a:t>
            </a:r>
            <a:r>
              <a:rPr lang="ru-RU" sz="3200" cap="all" dirty="0">
                <a:solidFill>
                  <a:srgbClr val="C00000"/>
                </a:solidFill>
              </a:rPr>
              <a:t>»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B11F14E6-22FC-4BAB-ABC3-E7F3472712EC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19279"/>
          <a:stretch/>
        </p:blipFill>
        <p:spPr>
          <a:xfrm>
            <a:off x="904460" y="1071745"/>
            <a:ext cx="10383078" cy="47145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76238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D4D6B89-EB57-45F4-8681-4FFC68302060}"/>
              </a:ext>
            </a:extLst>
          </p:cNvPr>
          <p:cNvSpPr txBox="1"/>
          <p:nvPr/>
        </p:nvSpPr>
        <p:spPr>
          <a:xfrm>
            <a:off x="1111828" y="6441823"/>
            <a:ext cx="45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b="1" dirty="0">
                <a:solidFill>
                  <a:srgbClr val="B10C34"/>
                </a:solidFill>
              </a:rPr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3FC432E-7995-4EE8-A50F-7E55AE018470}"/>
              </a:ext>
            </a:extLst>
          </p:cNvPr>
          <p:cNvSpPr txBox="1"/>
          <p:nvPr/>
        </p:nvSpPr>
        <p:spPr>
          <a:xfrm>
            <a:off x="1317021" y="169464"/>
            <a:ext cx="955795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3200" cap="all" dirty="0">
                <a:solidFill>
                  <a:srgbClr val="C00000"/>
                </a:solidFill>
              </a:rPr>
              <a:t>Регистр накопления «</a:t>
            </a:r>
            <a:r>
              <a:rPr lang="ru-RU" sz="3200" cap="all" dirty="0" err="1">
                <a:solidFill>
                  <a:srgbClr val="C00000"/>
                </a:solidFill>
              </a:rPr>
              <a:t>ТоварыНаСкладах</a:t>
            </a:r>
            <a:r>
              <a:rPr lang="ru-RU" sz="3200" cap="all" dirty="0">
                <a:solidFill>
                  <a:srgbClr val="C00000"/>
                </a:solidFill>
              </a:rPr>
              <a:t>»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F26BD45-36EB-4BDC-B855-647E7CD9BBC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-163" b="20681"/>
          <a:stretch/>
        </p:blipFill>
        <p:spPr>
          <a:xfrm>
            <a:off x="670434" y="1003284"/>
            <a:ext cx="10851131" cy="4851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77328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D4D6B89-EB57-45F4-8681-4FFC68302060}"/>
              </a:ext>
            </a:extLst>
          </p:cNvPr>
          <p:cNvSpPr txBox="1"/>
          <p:nvPr/>
        </p:nvSpPr>
        <p:spPr>
          <a:xfrm>
            <a:off x="1111828" y="6441823"/>
            <a:ext cx="45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b="1" dirty="0">
                <a:solidFill>
                  <a:srgbClr val="B10C34"/>
                </a:solidFill>
              </a:rPr>
              <a:t>10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3FC432E-7995-4EE8-A50F-7E55AE018470}"/>
              </a:ext>
            </a:extLst>
          </p:cNvPr>
          <p:cNvSpPr txBox="1"/>
          <p:nvPr/>
        </p:nvSpPr>
        <p:spPr>
          <a:xfrm>
            <a:off x="1317021" y="169464"/>
            <a:ext cx="955795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3200" cap="all" dirty="0">
                <a:solidFill>
                  <a:srgbClr val="C00000"/>
                </a:solidFill>
              </a:rPr>
              <a:t>отчет «</a:t>
            </a:r>
            <a:r>
              <a:rPr lang="ru-RU" sz="3200" cap="all" dirty="0" err="1">
                <a:solidFill>
                  <a:srgbClr val="C00000"/>
                </a:solidFill>
              </a:rPr>
              <a:t>ОстаткиТоваровНаСкладах</a:t>
            </a:r>
            <a:r>
              <a:rPr lang="ru-RU" sz="3200" cap="all" dirty="0">
                <a:solidFill>
                  <a:srgbClr val="C00000"/>
                </a:solidFill>
              </a:rPr>
              <a:t>»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68B59C26-6828-4916-AD1C-F8C6F103461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16956"/>
          <a:stretch/>
        </p:blipFill>
        <p:spPr>
          <a:xfrm>
            <a:off x="670434" y="922837"/>
            <a:ext cx="10851131" cy="5068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87839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F0D989D-7996-4C2B-903F-422FE8749600}"/>
              </a:ext>
            </a:extLst>
          </p:cNvPr>
          <p:cNvSpPr txBox="1"/>
          <p:nvPr/>
        </p:nvSpPr>
        <p:spPr>
          <a:xfrm>
            <a:off x="1111828" y="6441823"/>
            <a:ext cx="45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b="1" dirty="0">
                <a:solidFill>
                  <a:srgbClr val="B10C34"/>
                </a:solidFill>
              </a:rPr>
              <a:t>11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BF88D6D-E2A6-43B6-926E-B25046CAF0AF}"/>
              </a:ext>
            </a:extLst>
          </p:cNvPr>
          <p:cNvSpPr txBox="1"/>
          <p:nvPr/>
        </p:nvSpPr>
        <p:spPr>
          <a:xfrm>
            <a:off x="441614" y="882962"/>
            <a:ext cx="11308772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ru-RU" dirty="0"/>
              <a:t>В первой главе проведён анализ нормативно-правовой базы, выполнен сравнительный обзор типовых решений (1С:Управление торговлей и 1С:ERP), выявлены их недостатки и обоснована необходимость разработки собственной конфигурации. Сформировано техническое задание, определены входные и выходные данные, а также выбран бизнес-процесс для автоматизации.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ru-RU" dirty="0"/>
              <a:t>	Во второй главе спроектирована структура конфигурации: назначены роли пользователей, созданы основные объекты (справочники, документы, регистры), разработаны алгоритмы автоматического проведения документов и формирования проводок. Реализованы печатные и экранные формы отчётов, включая не менее двух регламентированных отчётов, настроен мультивалютный учёт и созданы регистры расчёта. Особое внимание уделено программной реализации бизнес-процесса с использованием точек маршрута, обработчиков событий и гибкой маршрутизации (персональной, ролевой и условной).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ru-RU" dirty="0"/>
              <a:t>	В третьей главе выполнено наполнение информационной базы тестовыми данными и проведено комплексное тестирование разработанной конфигурации. Проверка подтвердила корректность работы автоматических алгоритмов, отсутствие ошибок при расчёте остатков и сумм, а также надёжность системы разграничения прав доступа.</a:t>
            </a:r>
          </a:p>
        </p:txBody>
      </p:sp>
    </p:spTree>
    <p:extLst>
      <p:ext uri="{BB962C8B-B14F-4D97-AF65-F5344CB8AC3E}">
        <p14:creationId xmlns:p14="http://schemas.microsoft.com/office/powerpoint/2010/main" val="11650269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E735162-0498-47F4-8341-66855AC477E6}"/>
              </a:ext>
            </a:extLst>
          </p:cNvPr>
          <p:cNvSpPr txBox="1"/>
          <p:nvPr/>
        </p:nvSpPr>
        <p:spPr>
          <a:xfrm>
            <a:off x="1111828" y="6441823"/>
            <a:ext cx="45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b="1" dirty="0">
                <a:solidFill>
                  <a:srgbClr val="B10C34"/>
                </a:solidFill>
              </a:rPr>
              <a:t>12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CFEF040-6B66-44B7-BD5F-97775598041D}"/>
              </a:ext>
            </a:extLst>
          </p:cNvPr>
          <p:cNvSpPr txBox="1"/>
          <p:nvPr/>
        </p:nvSpPr>
        <p:spPr>
          <a:xfrm>
            <a:off x="3761431" y="1478974"/>
            <a:ext cx="466913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sz="3600" dirty="0">
                <a:solidFill>
                  <a:srgbClr val="C00000"/>
                </a:solidFill>
              </a:rPr>
              <a:t>Спасибо за внимание!</a:t>
            </a:r>
          </a:p>
        </p:txBody>
      </p:sp>
      <p:pic>
        <p:nvPicPr>
          <p:cNvPr id="2050" name="Picture 2" descr="Результат редактора фото">
            <a:extLst>
              <a:ext uri="{FF2B5EF4-FFF2-40B4-BE49-F238E27FC236}">
                <a16:creationId xmlns:a16="http://schemas.microsoft.com/office/drawing/2014/main" id="{E2325332-E061-47A9-AF82-C5A8D829CA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37989" y="2125305"/>
            <a:ext cx="3916017" cy="39160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2672569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1306</TotalTime>
  <Words>329</Words>
  <Application>Microsoft Office PowerPoint</Application>
  <PresentationFormat>Широкоэкранный</PresentationFormat>
  <Paragraphs>73</Paragraphs>
  <Slides>12</Slides>
  <Notes>12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18" baseType="lpstr">
      <vt:lpstr>Calibri Light</vt:lpstr>
      <vt:lpstr>Times New Roman</vt:lpstr>
      <vt:lpstr>Arial</vt:lpstr>
      <vt:lpstr>Calibri</vt:lpstr>
      <vt:lpstr>Symbol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Зайцев Сергей Александрович</dc:creator>
  <cp:lastModifiedBy>Яна Tимофеева</cp:lastModifiedBy>
  <cp:revision>208</cp:revision>
  <dcterms:created xsi:type="dcterms:W3CDTF">2019-06-05T12:58:05Z</dcterms:created>
  <dcterms:modified xsi:type="dcterms:W3CDTF">2026-06-01T16:09:54Z</dcterms:modified>
</cp:coreProperties>
</file>