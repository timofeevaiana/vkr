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74" r:id="rId4"/>
    <p:sldId id="257" r:id="rId5"/>
    <p:sldId id="271" r:id="rId6"/>
    <p:sldId id="275" r:id="rId7"/>
    <p:sldId id="276" r:id="rId8"/>
    <p:sldId id="278" r:id="rId9"/>
    <p:sldId id="279" r:id="rId10"/>
    <p:sldId id="277" r:id="rId11"/>
    <p:sldId id="259" r:id="rId12"/>
    <p:sldId id="26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C34"/>
    <a:srgbClr val="EF9985"/>
    <a:srgbClr val="C1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89103" autoAdjust="0"/>
  </p:normalViewPr>
  <p:slideViewPr>
    <p:cSldViewPr snapToGrid="0">
      <p:cViewPr varScale="1">
        <p:scale>
          <a:sx n="60" d="100"/>
          <a:sy n="60" d="100"/>
        </p:scale>
        <p:origin x="1219" y="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D1B43-9722-4B59-B8E5-0D06E85DE3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41DBD-6CA5-42D1-AF42-62D80C8F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46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3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451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991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830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451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142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611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923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516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83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97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289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1929" y="2446893"/>
            <a:ext cx="661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направление подготовки:</a:t>
            </a:r>
            <a:r>
              <a:rPr lang="ru-RU" baseline="0" dirty="0"/>
              <a:t> 09.03.03 «Прикладная информатика»</a:t>
            </a:r>
          </a:p>
          <a:p>
            <a:r>
              <a:rPr lang="ru-RU" baseline="0" dirty="0"/>
              <a:t>профиль: «Корпоративные информационные системы»</a:t>
            </a:r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789340" y="2935868"/>
            <a:ext cx="86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Выпускная квалификационная работа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21731" y="508858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Руководитель работы: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221731" y="563354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Обучающийся: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032907" y="1585872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B10C34"/>
                </a:solidFill>
              </a:rPr>
              <a:t>факультет информационных технологий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906963" y="2018620"/>
            <a:ext cx="5021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rgbClr val="B10C34"/>
                </a:solidFill>
              </a:rPr>
              <a:t>кафедра информационных</a:t>
            </a:r>
            <a:r>
              <a:rPr lang="ru-RU" sz="2400" b="1" baseline="0" dirty="0">
                <a:solidFill>
                  <a:srgbClr val="B10C34"/>
                </a:solidFill>
              </a:rPr>
              <a:t> систем</a:t>
            </a:r>
            <a:endParaRPr lang="ru-RU" sz="2400" b="1" dirty="0">
              <a:solidFill>
                <a:srgbClr val="B10C34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solidFill>
            <a:srgbClr val="C1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171" y="123301"/>
            <a:ext cx="3514362" cy="148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9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13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62414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28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234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ель, задач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№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9809" y="48987"/>
            <a:ext cx="1065224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10C34"/>
                </a:solidFill>
                <a:effectLst/>
              </a:rPr>
              <a:t>Цель: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1106060"/>
            <a:ext cx="1469486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10C34"/>
                </a:solidFill>
              </a:rPr>
              <a:t>Задачи: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9807" y="4214790"/>
            <a:ext cx="2711146" cy="4001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B10C34"/>
                </a:solidFill>
              </a:rPr>
              <a:t>Объект исследования: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9806" y="5257094"/>
            <a:ext cx="2855526" cy="400110"/>
          </a:xfrm>
          <a:prstGeom prst="rect">
            <a:avLst/>
          </a:prstGeom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B10C34"/>
                </a:solidFill>
              </a:rPr>
              <a:t>Предмет исследования:</a:t>
            </a:r>
          </a:p>
        </p:txBody>
      </p:sp>
    </p:spTree>
    <p:extLst>
      <p:ext uri="{BB962C8B-B14F-4D97-AF65-F5344CB8AC3E}">
        <p14:creationId xmlns:p14="http://schemas.microsoft.com/office/powerpoint/2010/main" val="118196767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№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</a:p>
        </p:txBody>
      </p:sp>
    </p:spTree>
    <p:extLst>
      <p:ext uri="{BB962C8B-B14F-4D97-AF65-F5344CB8AC3E}">
        <p14:creationId xmlns:p14="http://schemas.microsoft.com/office/powerpoint/2010/main" val="91421071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№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2634141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B10C34"/>
                </a:solidFill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2574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зыв научного руководител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№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B10C34"/>
                </a:solidFill>
              </a:rPr>
              <a:t>ОТЗЫВ РУКОВОДИТЕЛЯ ВЫПУСКНОЙ КВАЛИФИКАЦИОННОЙ РАБОТЫ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11805556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B10C34"/>
                </a:solidFill>
              </a:rPr>
              <a:t>Отзыв на выпускную квалификационную работу</a:t>
            </a:r>
          </a:p>
        </p:txBody>
      </p:sp>
    </p:spTree>
    <p:extLst>
      <p:ext uri="{BB962C8B-B14F-4D97-AF65-F5344CB8AC3E}">
        <p14:creationId xmlns:p14="http://schemas.microsoft.com/office/powerpoint/2010/main" val="367524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71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2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53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09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85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E7C0-B0E1-4307-8FA1-D09529EF9B05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54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5" r:id="rId7"/>
    <p:sldLayoutId id="2147483654" r:id="rId8"/>
    <p:sldLayoutId id="2147483662" r:id="rId9"/>
    <p:sldLayoutId id="2147483661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732" y="3526043"/>
            <a:ext cx="11748536" cy="83099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0" dirty="0"/>
              <a:t>тема: </a:t>
            </a:r>
            <a:r>
              <a:rPr lang="ru-RU" sz="2400" b="1" dirty="0"/>
              <a:t>«Автоматизированная информационная система учета товарооборота фирмы на базе платформы 1С:Предприятие»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42705" y="5095703"/>
            <a:ext cx="355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к.т.н., </a:t>
            </a:r>
            <a:r>
              <a:rPr lang="ru-RU" dirty="0" err="1"/>
              <a:t>Блощук</a:t>
            </a:r>
            <a:r>
              <a:rPr lang="ru-RU" dirty="0"/>
              <a:t> Андрей Алексеевич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0145" y="5649416"/>
            <a:ext cx="478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Тимофеева Яна Сергеевна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9" y="6436569"/>
            <a:ext cx="399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chemeClr val="bg1"/>
                </a:solidFill>
              </a:rPr>
              <a:t>группа: </a:t>
            </a:r>
            <a:r>
              <a:rPr lang="ru-RU" dirty="0" err="1">
                <a:solidFill>
                  <a:schemeClr val="bg1"/>
                </a:solidFill>
              </a:rPr>
              <a:t>о.ИЗДтв</a:t>
            </a:r>
            <a:r>
              <a:rPr lang="ru-RU" dirty="0">
                <a:solidFill>
                  <a:schemeClr val="bg1"/>
                </a:solidFill>
              </a:rPr>
              <a:t> 23.1/Б2-23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22256" y="6436569"/>
            <a:ext cx="341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chemeClr val="bg1"/>
                </a:solidFill>
              </a:rPr>
              <a:t>форма обучения: за</a:t>
            </a:r>
            <a:r>
              <a:rPr lang="ru-RU" dirty="0">
                <a:solidFill>
                  <a:schemeClr val="bg1"/>
                </a:solidFill>
              </a:rPr>
              <a:t>очная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73835" y="6431997"/>
            <a:ext cx="399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chemeClr val="bg1"/>
                </a:solidFill>
              </a:rPr>
              <a:t>технология обучения: </a:t>
            </a:r>
            <a:r>
              <a:rPr lang="ru-RU" dirty="0">
                <a:solidFill>
                  <a:schemeClr val="bg1"/>
                </a:solidFill>
              </a:rPr>
              <a:t>дистанционная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5070CE0-DAF6-47AC-B7AE-51A6AF6CC1E9}"/>
              </a:ext>
            </a:extLst>
          </p:cNvPr>
          <p:cNvSpPr/>
          <p:nvPr/>
        </p:nvSpPr>
        <p:spPr>
          <a:xfrm>
            <a:off x="1136666" y="2738890"/>
            <a:ext cx="49593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/>
              <a:t>«Прикладная информатика в экономике»</a:t>
            </a:r>
          </a:p>
        </p:txBody>
      </p:sp>
    </p:spTree>
    <p:extLst>
      <p:ext uri="{BB962C8B-B14F-4D97-AF65-F5344CB8AC3E}">
        <p14:creationId xmlns:p14="http://schemas.microsoft.com/office/powerpoint/2010/main" val="346613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745E0-200C-4D60-A724-DAE5436A89C2}"/>
              </a:ext>
            </a:extLst>
          </p:cNvPr>
          <p:cNvSpPr txBox="1"/>
          <p:nvPr/>
        </p:nvSpPr>
        <p:spPr>
          <a:xfrm>
            <a:off x="197708" y="710035"/>
            <a:ext cx="11796584" cy="923330"/>
          </a:xfrm>
          <a:prstGeom prst="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Разработка автоматизированной информационной системы учёта товарооборота фирмы на базе платформы 1С:Предприятие, обеспечивающей комплексную автоматизацию процессов закупки, продажи и бухгалтерского сопровождения товаров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38C4E-12FF-4E63-84AA-957C9E66ACEC}"/>
              </a:ext>
            </a:extLst>
          </p:cNvPr>
          <p:cNvSpPr txBox="1"/>
          <p:nvPr/>
        </p:nvSpPr>
        <p:spPr>
          <a:xfrm>
            <a:off x="197708" y="2430276"/>
            <a:ext cx="11796584" cy="3371885"/>
          </a:xfrm>
          <a:prstGeom prst="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Провести анализ предметной области и нормативно-правовой базы.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сравнительный анализ существующих решений на платформе 1С и обосновать необходимость создания конфигурации.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Спроектировать структуру данных, интерфейс и систему разграничения прав.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основные объекты конфигурации (справочники, документы, регистры).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алгоритмы автоматического проведения документов и формирования проводок.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печатные формы отчётов.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Times New Roman" panose="02020603050405020304" pitchFamily="18" charset="0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наполнение базы и провести тестирование системы.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77F4D-B935-4DCF-A3A4-6FF09A41EC1D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F2408E3-52B4-4011-8D44-9E21AB4BF380}"/>
              </a:ext>
            </a:extLst>
          </p:cNvPr>
          <p:cNvSpPr/>
          <p:nvPr/>
        </p:nvSpPr>
        <p:spPr>
          <a:xfrm>
            <a:off x="144765" y="1724595"/>
            <a:ext cx="139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B10C34"/>
                </a:solidFill>
              </a:rPr>
              <a:t>Задачи:</a:t>
            </a:r>
          </a:p>
        </p:txBody>
      </p:sp>
    </p:spTree>
    <p:extLst>
      <p:ext uri="{BB962C8B-B14F-4D97-AF65-F5344CB8AC3E}">
        <p14:creationId xmlns:p14="http://schemas.microsoft.com/office/powerpoint/2010/main" val="107950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3241963" y="624948"/>
            <a:ext cx="570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>
                <a:solidFill>
                  <a:srgbClr val="C00000"/>
                </a:solidFill>
              </a:rPr>
              <a:t>Объект исследования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F97087-E4EE-4876-95E6-534254E6D913}"/>
              </a:ext>
            </a:extLst>
          </p:cNvPr>
          <p:cNvSpPr/>
          <p:nvPr/>
        </p:nvSpPr>
        <p:spPr>
          <a:xfrm>
            <a:off x="1018556" y="1632738"/>
            <a:ext cx="1015488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Процесс учёта товарооборота в торговой организации «Товарооборот-НН».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2940B-F2C8-4C62-A27F-61805C45674E}"/>
              </a:ext>
            </a:extLst>
          </p:cNvPr>
          <p:cNvSpPr txBox="1"/>
          <p:nvPr/>
        </p:nvSpPr>
        <p:spPr>
          <a:xfrm>
            <a:off x="3241963" y="2533576"/>
            <a:ext cx="570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>
                <a:solidFill>
                  <a:srgbClr val="C00000"/>
                </a:solidFill>
              </a:rPr>
              <a:t>Предмет исследования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2C8C22-2CCA-4D85-9AA3-EAFFBD36333C}"/>
              </a:ext>
            </a:extLst>
          </p:cNvPr>
          <p:cNvSpPr/>
          <p:nvPr/>
        </p:nvSpPr>
        <p:spPr>
          <a:xfrm>
            <a:off x="1340428" y="3547347"/>
            <a:ext cx="1015488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Методы автоматизации процесса средствами платформы 1С:Предприятие 8.3.</a:t>
            </a:r>
          </a:p>
        </p:txBody>
      </p:sp>
    </p:spTree>
    <p:extLst>
      <p:ext uri="{BB962C8B-B14F-4D97-AF65-F5344CB8AC3E}">
        <p14:creationId xmlns:p14="http://schemas.microsoft.com/office/powerpoint/2010/main" val="14101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3241963" y="339976"/>
            <a:ext cx="570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>
                <a:solidFill>
                  <a:srgbClr val="C00000"/>
                </a:solidFill>
              </a:rPr>
              <a:t>Актуальность исследования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0B6C8-7519-4612-BAAD-5EA58E1B31EF}"/>
              </a:ext>
            </a:extLst>
          </p:cNvPr>
          <p:cNvSpPr txBox="1"/>
          <p:nvPr/>
        </p:nvSpPr>
        <p:spPr>
          <a:xfrm>
            <a:off x="1111828" y="1560027"/>
            <a:ext cx="9759372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существующие типовые конфигурации содержат избыточный функционал, который усложняет работу персонала и требует значительных доработок.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ручной ввод данных и отсутствие автоматических проверок приводят к ошибкам.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компания нуждается в гибкой системе, позволяющей одновременно вести учёт с минимальными трудозатратами.</a:t>
            </a:r>
          </a:p>
        </p:txBody>
      </p:sp>
    </p:spTree>
    <p:extLst>
      <p:ext uri="{BB962C8B-B14F-4D97-AF65-F5344CB8AC3E}">
        <p14:creationId xmlns:p14="http://schemas.microsoft.com/office/powerpoint/2010/main" val="410616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1317021" y="169464"/>
            <a:ext cx="9557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C00000"/>
                </a:solidFill>
              </a:rPr>
              <a:t>АНАЛИЗ ПРЕДМЕТНОЙ ОБЛАСТИ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A14DDB-5F03-4F17-8351-A4F2DB97BB4F}"/>
              </a:ext>
            </a:extLst>
          </p:cNvPr>
          <p:cNvPicPr/>
          <p:nvPr/>
        </p:nvPicPr>
        <p:blipFill rotWithShape="1">
          <a:blip r:embed="rId3"/>
          <a:srcRect l="30943" t="17877" r="28914" b="7723"/>
          <a:stretch/>
        </p:blipFill>
        <p:spPr bwMode="auto">
          <a:xfrm>
            <a:off x="3139107" y="996018"/>
            <a:ext cx="5913783" cy="48659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941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1317021" y="169464"/>
            <a:ext cx="9557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C00000"/>
                </a:solidFill>
              </a:rPr>
              <a:t>ПРОЕКТИРОВАНИЕ КОНФИГУРАЦИИ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4E051E3-E7D9-4BA3-BE9D-F2FC40A63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61425"/>
              </p:ext>
            </p:extLst>
          </p:nvPr>
        </p:nvGraphicFramePr>
        <p:xfrm>
          <a:off x="3408399" y="812045"/>
          <a:ext cx="5375199" cy="5353250"/>
        </p:xfrm>
        <a:graphic>
          <a:graphicData uri="http://schemas.openxmlformats.org/drawingml/2006/table">
            <a:tbl>
              <a:tblPr firstRow="1" firstCol="1" bandRow="1"/>
              <a:tblGrid>
                <a:gridCol w="5375199">
                  <a:extLst>
                    <a:ext uri="{9D8B030D-6E8A-4147-A177-3AD203B41FA5}">
                      <a16:colId xmlns:a16="http://schemas.microsoft.com/office/drawing/2014/main" val="2317394826"/>
                    </a:ext>
                  </a:extLst>
                </a:gridCol>
              </a:tblGrid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Конфигурация содержит следующий набор объектов: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091920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Справочники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из них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иерархических.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389636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Документы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803586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Константы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2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359172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Перечисления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758261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Общие модули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473346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Параметры сеанса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900898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Обработки –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98607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Отчеты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в том числе сложные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773921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Подсистемы -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689492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Регистры накопления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51249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Планы видов характеристик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1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029903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Планы счетов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239735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Планы видов расчета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698797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Регистры сведений –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5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859338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Регистры бухгалтерии -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401751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Регистры расчета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623210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Бизнес-процессы – 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295962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algn="just" fontAlgn="auto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                   Задачи – </a:t>
                      </a: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745" marR="557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594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78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1317021" y="169464"/>
            <a:ext cx="9557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cap="all" dirty="0">
                <a:solidFill>
                  <a:srgbClr val="C00000"/>
                </a:solidFill>
              </a:rPr>
              <a:t>Документ «</a:t>
            </a:r>
            <a:r>
              <a:rPr lang="ru-RU" sz="3200" cap="all" dirty="0" err="1">
                <a:solidFill>
                  <a:srgbClr val="C00000"/>
                </a:solidFill>
              </a:rPr>
              <a:t>РеализацияТоваров</a:t>
            </a:r>
            <a:r>
              <a:rPr lang="ru-RU" sz="3200" cap="all" dirty="0">
                <a:solidFill>
                  <a:srgbClr val="C00000"/>
                </a:solidFill>
              </a:rPr>
              <a:t>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D56475-E93D-4F66-8579-A3B13862F7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116"/>
          <a:stretch/>
        </p:blipFill>
        <p:spPr>
          <a:xfrm>
            <a:off x="658510" y="1339014"/>
            <a:ext cx="10874979" cy="427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77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1317021" y="169464"/>
            <a:ext cx="9557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cap="all" dirty="0">
                <a:solidFill>
                  <a:srgbClr val="C00000"/>
                </a:solidFill>
              </a:rPr>
              <a:t>Регистр сведений «</a:t>
            </a:r>
            <a:r>
              <a:rPr lang="ru-RU" sz="3200" cap="all" dirty="0" err="1">
                <a:solidFill>
                  <a:srgbClr val="C00000"/>
                </a:solidFill>
              </a:rPr>
              <a:t>ЦеныНоменклатуры</a:t>
            </a:r>
            <a:r>
              <a:rPr lang="ru-RU" sz="3200" cap="all" dirty="0">
                <a:solidFill>
                  <a:srgbClr val="C00000"/>
                </a:solidFill>
              </a:rPr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1F14E6-22FC-4BAB-ABC3-E7F3472712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279"/>
          <a:stretch/>
        </p:blipFill>
        <p:spPr>
          <a:xfrm>
            <a:off x="904460" y="1071745"/>
            <a:ext cx="10383078" cy="47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1317021" y="169464"/>
            <a:ext cx="9557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cap="all" dirty="0">
                <a:solidFill>
                  <a:srgbClr val="C00000"/>
                </a:solidFill>
              </a:rPr>
              <a:t>Регистр накопления «</a:t>
            </a:r>
            <a:r>
              <a:rPr lang="ru-RU" sz="3200" cap="all" dirty="0" err="1">
                <a:solidFill>
                  <a:srgbClr val="C00000"/>
                </a:solidFill>
              </a:rPr>
              <a:t>ТоварыНаСкладах</a:t>
            </a:r>
            <a:r>
              <a:rPr lang="ru-RU" sz="3200" cap="all" dirty="0">
                <a:solidFill>
                  <a:srgbClr val="C00000"/>
                </a:solidFill>
              </a:rPr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26BD45-36EB-4BDC-B855-647E7CD9BB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63" b="20681"/>
          <a:stretch/>
        </p:blipFill>
        <p:spPr>
          <a:xfrm>
            <a:off x="670434" y="1003284"/>
            <a:ext cx="10851131" cy="485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3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6B89-EB57-45F4-8681-4FFC6830206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432E-7995-4EE8-A50F-7E55AE018470}"/>
              </a:ext>
            </a:extLst>
          </p:cNvPr>
          <p:cNvSpPr txBox="1"/>
          <p:nvPr/>
        </p:nvSpPr>
        <p:spPr>
          <a:xfrm>
            <a:off x="1317021" y="169464"/>
            <a:ext cx="9557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cap="all" dirty="0">
                <a:solidFill>
                  <a:srgbClr val="C00000"/>
                </a:solidFill>
              </a:rPr>
              <a:t>отчет «</a:t>
            </a:r>
            <a:r>
              <a:rPr lang="ru-RU" sz="3200" cap="all" dirty="0" err="1">
                <a:solidFill>
                  <a:srgbClr val="C00000"/>
                </a:solidFill>
              </a:rPr>
              <a:t>ОстаткиТоваровНаСкладах</a:t>
            </a:r>
            <a:r>
              <a:rPr lang="ru-RU" sz="3200" cap="all" dirty="0">
                <a:solidFill>
                  <a:srgbClr val="C00000"/>
                </a:solidFill>
              </a:rPr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B59C26-6828-4916-AD1C-F8C6F10346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956"/>
          <a:stretch/>
        </p:blipFill>
        <p:spPr>
          <a:xfrm>
            <a:off x="670434" y="922837"/>
            <a:ext cx="10851131" cy="506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8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D989D-7996-4C2B-903F-422FE8749600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88D6D-E2A6-43B6-926E-B25046CAF0AF}"/>
              </a:ext>
            </a:extLst>
          </p:cNvPr>
          <p:cNvSpPr txBox="1"/>
          <p:nvPr/>
        </p:nvSpPr>
        <p:spPr>
          <a:xfrm>
            <a:off x="441614" y="882962"/>
            <a:ext cx="113087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 первой главе проведён анализ нормативно-правовой базы, выполнен сравнительный обзор типовых решений (1С:Управление торговлей и 1С:ERP), выявлены их недостатки и обоснована необходимость разработки собственной конфигурации. Сформировано техническое задание, определены входные и выходные данные, а также выбран бизнес-процесс для автоматизации.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	Во второй главе спроектирована структура конфигурации: назначены роли пользователей, созданы основные объекты (справочники, документы, регистры), разработаны алгоритмы автоматического проведения документов и формирования проводок. Реализованы печатные и экранные формы отчётов, включая не менее двух регламентированных отчётов, настроен мультивалютный учёт и созданы регистры расчёта. Особое внимание уделено программной реализации бизнес-процесса с использованием точек маршрута, обработчиков событий и гибкой маршрутизации (персональной, ролевой и условной).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	В третьей главе выполнено наполнение информационной базы тестовыми данными и проведено комплексное тестирование разработанной конфигурации. Проверка подтвердила корректность работы автоматических алгоритмов, отсутствие ошибок при расчёте остатков и сумм, а также надёжность системы разграничения прав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1165026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735162-0498-47F4-8341-66855AC477E6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EF040-6B66-44B7-BD5F-97775598041D}"/>
              </a:ext>
            </a:extLst>
          </p:cNvPr>
          <p:cNvSpPr txBox="1"/>
          <p:nvPr/>
        </p:nvSpPr>
        <p:spPr>
          <a:xfrm>
            <a:off x="3761431" y="1478974"/>
            <a:ext cx="466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>
                <a:solidFill>
                  <a:srgbClr val="C00000"/>
                </a:solidFill>
              </a:rPr>
              <a:t>Спасибо за внимание!</a:t>
            </a:r>
          </a:p>
        </p:txBody>
      </p:sp>
      <p:pic>
        <p:nvPicPr>
          <p:cNvPr id="2050" name="Picture 2" descr="Результат редактора фото">
            <a:extLst>
              <a:ext uri="{FF2B5EF4-FFF2-40B4-BE49-F238E27FC236}">
                <a16:creationId xmlns:a16="http://schemas.microsoft.com/office/drawing/2014/main" id="{E2325332-E061-47A9-AF82-C5A8D829C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989" y="2125305"/>
            <a:ext cx="3916017" cy="391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72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</TotalTime>
  <Words>332</Words>
  <Application>Microsoft Office PowerPoint</Application>
  <PresentationFormat>Широкоэкранный</PresentationFormat>
  <Paragraphs>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 Light</vt:lpstr>
      <vt:lpstr>Times New Roman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Сергей Александрович</dc:creator>
  <cp:lastModifiedBy>Яна Tимофеева</cp:lastModifiedBy>
  <cp:revision>209</cp:revision>
  <dcterms:created xsi:type="dcterms:W3CDTF">2019-06-05T12:58:05Z</dcterms:created>
  <dcterms:modified xsi:type="dcterms:W3CDTF">2026-06-08T07:08:02Z</dcterms:modified>
</cp:coreProperties>
</file>